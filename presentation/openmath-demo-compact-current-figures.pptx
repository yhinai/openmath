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68e97822c54257" /><Relationship Type="http://schemas.openxmlformats.org/officeDocument/2006/relationships/extended-properties" Target="/docProps/app.xml" Id="Rf9b9897db49c4e76" /><Relationship Type="http://schemas.openxmlformats.org/officeDocument/2006/relationships/officeDocument" Target="/ppt/presentation.xml" Id="R207be20b6afa47e5" /></Relationships>
</file>

<file path=ppt/presentation.xml><?xml version="1.0" encoding="utf-8"?>
<p:presentation xmlns:p="http://schemas.openxmlformats.org/presentationml/2006/main">
  <p:sldMasterIdLst>
    <p:sldMasterId xmlns:r="http://schemas.openxmlformats.org/officeDocument/2006/relationships" id="2147483648" r:id="R607f318a34ee4bae"/>
  </p:sldMasterIdLst>
  <p:notesMasterIdLst>
    <p:notesMasterId xmlns:r="http://schemas.openxmlformats.org/officeDocument/2006/relationships" r:id="R0b6a38b2598a409f"/>
  </p:notesMasterIdLst>
  <p:sldIdLst>
    <p:sldId xmlns:r="http://schemas.openxmlformats.org/officeDocument/2006/relationships" id="256" r:id="Rf6ca13d660d148be"/>
    <p:sldId xmlns:r="http://schemas.openxmlformats.org/officeDocument/2006/relationships" id="257" r:id="Re7d5333a500f4cfb"/>
    <p:sldId xmlns:r="http://schemas.openxmlformats.org/officeDocument/2006/relationships" id="258" r:id="R3814983d190f4701"/>
    <p:sldId xmlns:r="http://schemas.openxmlformats.org/officeDocument/2006/relationships" id="259" r:id="Rd69dd91c54704273"/>
    <p:sldId xmlns:r="http://schemas.openxmlformats.org/officeDocument/2006/relationships" id="260" r:id="Re6af9160632747de"/>
    <p:sldId xmlns:r="http://schemas.openxmlformats.org/officeDocument/2006/relationships" id="261" r:id="R49ed284374694817"/>
    <p:sldId xmlns:r="http://schemas.openxmlformats.org/officeDocument/2006/relationships" id="262" r:id="Rc29c3a287f7d4b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1f7e427f2641ee" /><Relationship Type="http://schemas.openxmlformats.org/officeDocument/2006/relationships/slideMaster" Target="/ppt/slideMasters/slideMaster1.xml" Id="R607f318a34ee4bae" /><Relationship Type="http://schemas.openxmlformats.org/officeDocument/2006/relationships/notesMaster" Target="/ppt/notesMasters/notesMaster1.xml" Id="R0b6a38b2598a409f" /><Relationship Type="http://schemas.openxmlformats.org/officeDocument/2006/relationships/presProps" Target="/ppt/presProps.xml" Id="R05f49a86157848e4" /><Relationship Type="http://schemas.openxmlformats.org/officeDocument/2006/relationships/tableStyles" Target="/ppt/tableStyles.xml" Id="R4dfa1017344d4bf1" /><Relationship Type="http://schemas.openxmlformats.org/officeDocument/2006/relationships/slide" Target="/ppt/slides/slide1.xml" Id="Rf6ca13d660d148be" /><Relationship Type="http://schemas.openxmlformats.org/officeDocument/2006/relationships/slide" Target="/ppt/slides/slide2.xml" Id="Re7d5333a500f4cfb" /><Relationship Type="http://schemas.openxmlformats.org/officeDocument/2006/relationships/slide" Target="/ppt/slides/slide3.xml" Id="R3814983d190f4701" /><Relationship Type="http://schemas.openxmlformats.org/officeDocument/2006/relationships/slide" Target="/ppt/slides/slide4.xml" Id="Rd69dd91c54704273" /><Relationship Type="http://schemas.openxmlformats.org/officeDocument/2006/relationships/slide" Target="/ppt/slides/slide5.xml" Id="Re6af9160632747de" /><Relationship Type="http://schemas.openxmlformats.org/officeDocument/2006/relationships/slide" Target="/ppt/slides/slide6.xml" Id="R49ed284374694817" /><Relationship Type="http://schemas.openxmlformats.org/officeDocument/2006/relationships/slide" Target="/ppt/slides/slide7.xml" Id="Rc29c3a287f7d4b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693018276a40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6cfb8c917d469d" /><Relationship Type="http://schemas.openxmlformats.org/officeDocument/2006/relationships/notesMaster" Target="/ppt/notesMasters/notesMaster1.xml" Id="R8133c72610e04b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992d7d0add48a9" /><Relationship Type="http://schemas.openxmlformats.org/officeDocument/2006/relationships/notesMaster" Target="/ppt/notesMasters/notesMaster1.xml" Id="R7300f39fe8b946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b7ff173ea64f85" /><Relationship Type="http://schemas.openxmlformats.org/officeDocument/2006/relationships/notesMaster" Target="/ppt/notesMasters/notesMaster1.xml" Id="R2d7387e2dff64d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ec33aa5dcf47d9" /><Relationship Type="http://schemas.openxmlformats.org/officeDocument/2006/relationships/notesMaster" Target="/ppt/notesMasters/notesMaster1.xml" Id="Rc8783b65d64347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fc05607a9b49d5" /><Relationship Type="http://schemas.openxmlformats.org/officeDocument/2006/relationships/notesMaster" Target="/ppt/notesMasters/notesMaster1.xml" Id="R9808618dbe5049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708f95a8f1431a" /><Relationship Type="http://schemas.openxmlformats.org/officeDocument/2006/relationships/notesMaster" Target="/ppt/notesMasters/notesMaster1.xml" Id="Rb26cb6d4599b40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030dc552054ac1" /><Relationship Type="http://schemas.openxmlformats.org/officeDocument/2006/relationships/notesMaster" Target="/ppt/notesMasters/notesMaster1.xml" Id="R64853672f8954e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demo around trust. We did not merely produce scores. We preserved exact certificates, replayed official evaluators, and used Lean where formal verification added the most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the progression in formal maturity. Kobon matches the known 93 lower bound with upper bound 94. Collatz provides a complete finite certificate, not a proof of the global conjecture.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figures come from this repository's current docs/figures set. They show the weighted certificate and the exact rational gap. Reference means McKay's improved 768-vertex upper-bound construction. Say candidate improvement, never world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comparison explicit. Rank 23 matches the state of the art and remains above the lower bound of 19. Support 139 beats every scheme in the HKS database under this metric, including Laderman at 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two different certificate stories. The Grothendieck witness nearly reaches the exact 2 by 2 cap. Busy Beaver should be compared with the challenge budget and baseline, not the unrestricted six-state Busy Beaver frontier.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Circle packing ties the best known in practice. Heilbronn reproduces AlphaEvolve's configuration. For the compute kernel, quote the median range because the host timing is noisy.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comparisons are challenge baselines, not global state of the art. Say that explicitly. Then switch to the terminal and run lake clean followed by lake build. Point to MatMul3 and Collatz in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740e1eefd34b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d15c1d81ec4683" /><Relationship Type="http://schemas.openxmlformats.org/officeDocument/2006/relationships/slideLayout" Target="/ppt/slideLayouts/slideLayout1.xml" Id="R49c3aa51e46344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c3aa51e46344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c4f123204e4f38" /><Relationship Type="http://schemas.openxmlformats.org/officeDocument/2006/relationships/image" Target="/ppt/media/image.png" Id="Rd65293d5f2e64183" /><Relationship Type="http://schemas.openxmlformats.org/officeDocument/2006/relationships/notesSlide" Target="/ppt/notesSlides/notesSlide1.xml" Id="R7bb9179a91c04c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c9d36f41e945ef" /><Relationship Type="http://schemas.openxmlformats.org/officeDocument/2006/relationships/notesSlide" Target="/ppt/notesSlides/notesSlide2.xml" Id="Rf03ef082d44f41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dc5355822a459c" /><Relationship Type="http://schemas.openxmlformats.org/officeDocument/2006/relationships/image" Target="/ppt/media/image2.png" Id="R732b2092ca684c56" /><Relationship Type="http://schemas.openxmlformats.org/officeDocument/2006/relationships/image" Target="/ppt/media/image3.png" Id="R568182c8bd3643cd" /><Relationship Type="http://schemas.openxmlformats.org/officeDocument/2006/relationships/notesSlide" Target="/ppt/notesSlides/notesSlide3.xml" Id="Rfa8bc5269b534a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8abdaa90ed4f29" /><Relationship Type="http://schemas.openxmlformats.org/officeDocument/2006/relationships/notesSlide" Target="/ppt/notesSlides/notesSlide4.xml" Id="Rdd636846caf04b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6d3059e07e4430" /><Relationship Type="http://schemas.openxmlformats.org/officeDocument/2006/relationships/notesSlide" Target="/ppt/notesSlides/notesSlide5.xml" Id="R78cd33db0d144d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10c319c7f249ee" /><Relationship Type="http://schemas.openxmlformats.org/officeDocument/2006/relationships/image" Target="/ppt/media/image4.png" Id="R9f8bed95b08746d2" /><Relationship Type="http://schemas.openxmlformats.org/officeDocument/2006/relationships/image" Target="/ppt/media/image5.png" Id="R607d3d54e2d145a6" /><Relationship Type="http://schemas.openxmlformats.org/officeDocument/2006/relationships/notesSlide" Target="/ppt/notesSlides/notesSlide6.xml" Id="Reafb8531f2f243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5cfa8d5441469e" /><Relationship Type="http://schemas.openxmlformats.org/officeDocument/2006/relationships/notesSlide" Target="/ppt/notesSlides/notesSlide7.xml" Id="Ra378eeb53e974653" /></Relationships>
</file>

<file path=ppt/slides/slide1.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60EF55-C7C6-4C47-82CD-926B7FA823B0}"/>
              </a:ext>
            </a:extLst>
          </p:cNvPr>
          <p:cNvSpPr>
            <a:spLocks xmlns:a="http://schemas.openxmlformats.org/drawingml/2006/main" noGrp="1"/>
          </p:cNvSpPr>
          <p:nvPr/>
        </p:nvSpPr>
        <p:spPr>
          <a:xfrm xmlns:a="http://schemas.openxmlformats.org/drawingml/2006/main">
            <a:off x="742950" y="5524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OPENMATH</a:t>
            </a:r>
          </a:p>
        </p:txBody>
      </p:sp>
      <p:sp>
        <p:nvSpPr>
          <p:cNvPr id="2" name="">
            <a:extLst xmlns:a="http://schemas.openxmlformats.org/drawingml/2006/main">
              <a:ext uri="{FF2B5EF4-FFF2-40B4-BE49-F238E27FC236}">
                <a16:creationId xmlns:a16="http://schemas.microsoft.com/office/drawing/2014/main" id="{48C9B9E6-711C-4B83-AD36-4036A30A687F}"/>
              </a:ext>
            </a:extLst>
          </p:cNvPr>
          <p:cNvSpPr>
            <a:spLocks xmlns:a="http://schemas.openxmlformats.org/drawingml/2006/main" noGrp="1"/>
          </p:cNvSpPr>
          <p:nvPr/>
        </p:nvSpPr>
        <p:spPr>
          <a:xfrm xmlns:a="http://schemas.openxmlformats.org/drawingml/2006/main">
            <a:off x="723900" y="1619250"/>
            <a:ext cx="1028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350" b="1">
                <a:solidFill>
                  <a:srgbClr val="1D1D1F"/>
                </a:solidFill>
                <a:latin typeface="Helvetica Neue"/>
                <a:ea typeface="Helvetica Neue"/>
                <a:cs typeface="Helvetica Neue"/>
              </a:defRPr>
            </a:pPr>
            <a:r>
              <a:rPr sz="4350" b="1">
                <a:solidFill>
                  <a:srgbClr val="1D1D1F"/>
                </a:solidFill>
                <a:latin typeface="Helvetica Neue"/>
                <a:ea typeface="Helvetica Neue"/>
                <a:cs typeface="Helvetica Neue"/>
              </a:rPr>
              <a:t>Can computation become</a:t>
            </a:r>
          </a:p>
          <a:p xmlns:a="http://schemas.openxmlformats.org/drawingml/2006/main">
            <a:pPr algn="l">
              <a:defRPr sz="4350" b="1">
                <a:solidFill>
                  <a:srgbClr val="1D1D1F"/>
                </a:solidFill>
                <a:latin typeface="Helvetica Neue"/>
                <a:ea typeface="Helvetica Neue"/>
                <a:cs typeface="Helvetica Neue"/>
              </a:defRPr>
            </a:pPr>
            <a:r>
              <a:rPr sz="4350" b="1">
                <a:solidFill>
                  <a:srgbClr val="1D1D1F"/>
                </a:solidFill>
                <a:latin typeface="Helvetica Neue"/>
                <a:ea typeface="Helvetica Neue"/>
                <a:cs typeface="Helvetica Neue"/>
              </a:rPr>
              <a:t>a mathematical proof?</a:t>
            </a:r>
          </a:p>
        </p:txBody>
      </p:sp>
      <p:sp>
        <p:nvSpPr>
          <p:cNvPr id="3" name="">
            <a:extLst xmlns:a="http://schemas.openxmlformats.org/drawingml/2006/main">
              <a:ext uri="{FF2B5EF4-FFF2-40B4-BE49-F238E27FC236}">
                <a16:creationId xmlns:a16="http://schemas.microsoft.com/office/drawing/2014/main" id="{385F8549-DC74-4C87-AA50-B2829B780C58}"/>
              </a:ext>
            </a:extLst>
          </p:cNvPr>
          <p:cNvSpPr>
            <a:spLocks xmlns:a="http://schemas.openxmlformats.org/drawingml/2006/main" noGrp="1"/>
          </p:cNvSpPr>
          <p:nvPr/>
        </p:nvSpPr>
        <p:spPr>
          <a:xfrm xmlns:a="http://schemas.openxmlformats.org/drawingml/2006/main">
            <a:off x="762000" y="3857625"/>
            <a:ext cx="876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E6E73"/>
                </a:solidFill>
                <a:latin typeface="Helvetica Neue"/>
                <a:ea typeface="Helvetica Neue"/>
                <a:cs typeface="Helvetica Neue"/>
              </a:defRPr>
            </a:pPr>
            <a:r>
              <a:rPr sz="1875" b="0">
                <a:solidFill>
                  <a:srgbClr val="6E6E73"/>
                </a:solidFill>
                <a:latin typeface="Helvetica Neue"/>
                <a:ea typeface="Helvetica Neue"/>
                <a:cs typeface="Helvetica Neue"/>
              </a:rPr>
              <a:t>Eleven challenge results, exact certificates, and a clean Lean build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65293d5f2e64183"/>
          <a:stretch xmlns:a="http://schemas.openxmlformats.org/drawingml/2006/main"/>
        </p:blipFill>
        <p:spPr>
          <a:xfrm xmlns:a="http://schemas.openxmlformats.org/drawingml/2006/main">
            <a:off x="7221141" y="3762375"/>
            <a:ext cx="3750469" cy="166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9E37F2-41FB-446B-8B50-B7B61C617091}"/>
              </a:ext>
            </a:extLst>
          </p:cNvPr>
          <p:cNvSpPr>
            <a:spLocks xmlns:a="http://schemas.openxmlformats.org/drawingml/2006/main" noGrp="1"/>
          </p:cNvSpPr>
          <p:nvPr/>
        </p:nvSpPr>
        <p:spPr>
          <a:xfrm xmlns:a="http://schemas.openxmlformats.org/drawingml/2006/main">
            <a:off x="762000" y="5810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D1D1F"/>
                </a:solidFill>
                <a:latin typeface="Helvetica Neue"/>
                <a:ea typeface="Helvetica Neue"/>
                <a:cs typeface="Helvetica Neue"/>
              </a:defRPr>
            </a:pPr>
            <a:r>
              <a:rPr sz="1350" b="0">
                <a:solidFill>
                  <a:srgbClr val="1D1D1F"/>
                </a:solidFill>
                <a:latin typeface="Helvetica Neue"/>
                <a:ea typeface="Helvetica Neue"/>
                <a:cs typeface="Helvetica Neue"/>
              </a:rPr>
              <a:t>Yahya Alhinai</a:t>
            </a:r>
          </a:p>
        </p:txBody>
      </p:sp>
      <p:sp>
        <p:nvSpPr>
          <p:cNvPr id="6" name="">
            <a:extLst xmlns:a="http://schemas.openxmlformats.org/drawingml/2006/main">
              <a:ext uri="{FF2B5EF4-FFF2-40B4-BE49-F238E27FC236}">
                <a16:creationId xmlns:a16="http://schemas.microsoft.com/office/drawing/2014/main" id="{9F1DDA81-0AF2-4A07-8F82-299876620536}"/>
              </a:ext>
            </a:extLst>
          </p:cNvPr>
          <p:cNvSpPr>
            <a:spLocks xmlns:a="http://schemas.openxmlformats.org/drawingml/2006/main" noGrp="1"/>
          </p:cNvSpPr>
          <p:nvPr/>
        </p:nvSpPr>
        <p:spPr>
          <a:xfrm xmlns:a="http://schemas.openxmlformats.org/drawingml/2006/main">
            <a:off x="7524750" y="58102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0">
                <a:solidFill>
                  <a:srgbClr val="0071E3"/>
                </a:solidFill>
                <a:latin typeface="Helvetica Neue"/>
                <a:ea typeface="Helvetica Neue"/>
                <a:cs typeface="Helvetica Neue"/>
              </a:defRPr>
            </a:pPr>
            <a:r>
              <a:rPr sz="1275" b="0">
                <a:solidFill>
                  <a:srgbClr val="0071E3"/>
                </a:solidFill>
                <a:latin typeface="Helvetica Neue"/>
                <a:ea typeface="Helvetica Neue"/>
                <a:cs typeface="Helvetica Neue"/>
              </a:rPr>
              <a:t>github.com/yhinai/openmath</a:t>
            </a:r>
          </a:p>
        </p:txBody>
      </p:sp>
    </p:spTree>
    <p:extLst>
      <p:ext uri="{BB962C8B-B14F-4D97-AF65-F5344CB8AC3E}">
        <p14:creationId xmlns:p14="http://schemas.microsoft.com/office/powerpoint/2010/main" val="996822171"/>
      </p:ext>
    </p:extLst>
  </p:cSld>
</p:sld>
</file>

<file path=ppt/slides/slide2.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144BE0D-0A9D-45E9-A2E8-C9B850821359}"/>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FORMAL PROOF</a:t>
            </a:r>
          </a:p>
        </p:txBody>
      </p:sp>
      <p:sp>
        <p:nvSpPr>
          <p:cNvPr id="2" name="">
            <a:extLst xmlns:a="http://schemas.openxmlformats.org/drawingml/2006/main">
              <a:ext uri="{FF2B5EF4-FFF2-40B4-BE49-F238E27FC236}">
                <a16:creationId xmlns:a16="http://schemas.microsoft.com/office/drawing/2014/main" id="{7E249448-21CF-455B-B9A2-E30CDA6BC97B}"/>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From 1 + 1 = 2 to research certificates</a:t>
            </a:r>
          </a:p>
        </p:txBody>
      </p:sp>
      <p:sp>
        <p:nvSpPr>
          <p:cNvPr id="3" name="">
            <a:extLst xmlns:a="http://schemas.openxmlformats.org/drawingml/2006/main">
              <a:ext uri="{FF2B5EF4-FFF2-40B4-BE49-F238E27FC236}">
                <a16:creationId xmlns:a16="http://schemas.microsoft.com/office/drawing/2014/main" id="{60A85E0C-B21F-440F-B50C-6434D8865F5C}"/>
              </a:ext>
            </a:extLst>
          </p:cNvPr>
          <p:cNvSpPr>
            <a:spLocks xmlns:a="http://schemas.openxmlformats.org/drawingml/2006/main" noGrp="1"/>
          </p:cNvSpPr>
          <p:nvPr/>
        </p:nvSpPr>
        <p:spPr>
          <a:xfrm xmlns:a="http://schemas.openxmlformats.org/drawingml/2006/main">
            <a:off x="74295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0071E3"/>
                </a:solidFill>
                <a:latin typeface="Helvetica Neue"/>
                <a:ea typeface="Helvetica Neue"/>
                <a:cs typeface="Helvetica Neue"/>
              </a:defRPr>
            </a:pPr>
            <a:r>
              <a:rPr sz="900" b="1">
                <a:solidFill>
                  <a:srgbClr val="0071E3"/>
                </a:solidFill>
                <a:latin typeface="Helvetica Neue"/>
                <a:ea typeface="Helvetica Neue"/>
                <a:cs typeface="Helvetica Neue"/>
              </a:rPr>
              <a:t>FOUNDATIONS</a:t>
            </a:r>
          </a:p>
        </p:txBody>
      </p:sp>
      <p:sp>
        <p:nvSpPr>
          <p:cNvPr id="4" name="">
            <a:extLst xmlns:a="http://schemas.openxmlformats.org/drawingml/2006/main">
              <a:ext uri="{FF2B5EF4-FFF2-40B4-BE49-F238E27FC236}">
                <a16:creationId xmlns:a16="http://schemas.microsoft.com/office/drawing/2014/main" id="{F7CCEDC3-02E6-455D-8C87-8BF7A87C23BA}"/>
              </a:ext>
            </a:extLst>
          </p:cNvPr>
          <p:cNvSpPr>
            <a:spLocks xmlns:a="http://schemas.openxmlformats.org/drawingml/2006/main" noGrp="1"/>
          </p:cNvSpPr>
          <p:nvPr/>
        </p:nvSpPr>
        <p:spPr>
          <a:xfrm xmlns:a="http://schemas.openxmlformats.org/drawingml/2006/main">
            <a:off x="74295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1 + 1 = 2</a:t>
            </a:r>
          </a:p>
        </p:txBody>
      </p:sp>
      <p:sp>
        <p:nvSpPr>
          <p:cNvPr id="5" name="">
            <a:extLst xmlns:a="http://schemas.openxmlformats.org/drawingml/2006/main">
              <a:ext uri="{FF2B5EF4-FFF2-40B4-BE49-F238E27FC236}">
                <a16:creationId xmlns:a16="http://schemas.microsoft.com/office/drawing/2014/main" id="{9A78E4D5-34E7-4A58-95DE-F676B2FF63D1}"/>
              </a:ext>
            </a:extLst>
          </p:cNvPr>
          <p:cNvSpPr>
            <a:spLocks xmlns:a="http://schemas.openxmlformats.org/drawingml/2006/main" noGrp="1"/>
          </p:cNvSpPr>
          <p:nvPr/>
        </p:nvSpPr>
        <p:spPr>
          <a:xfrm xmlns:a="http://schemas.openxmlformats.org/drawingml/2006/main">
            <a:off x="74295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From axioms and standard Lean</a:t>
            </a:r>
          </a:p>
        </p:txBody>
      </p:sp>
      <p:sp>
        <p:nvSpPr>
          <p:cNvPr id="6" name="">
            <a:extLst xmlns:a="http://schemas.openxmlformats.org/drawingml/2006/main">
              <a:ext uri="{FF2B5EF4-FFF2-40B4-BE49-F238E27FC236}">
                <a16:creationId xmlns:a16="http://schemas.microsoft.com/office/drawing/2014/main" id="{2C5298D0-D0E3-48AA-9AE7-90953A24630E}"/>
              </a:ext>
            </a:extLst>
          </p:cNvPr>
          <p:cNvSpPr>
            <a:spLocks xmlns:a="http://schemas.openxmlformats.org/drawingml/2006/main" noGrp="1"/>
          </p:cNvSpPr>
          <p:nvPr/>
        </p:nvSpPr>
        <p:spPr>
          <a:xfrm xmlns:a="http://schemas.openxmlformats.org/drawingml/2006/main">
            <a:off x="74295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The first version imports nothing and defines equality, Peano numbers, and addition laws from scratch.</a:t>
            </a:r>
          </a:p>
        </p:txBody>
      </p:sp>
      <p:sp>
        <p:nvSpPr>
          <p:cNvPr id="7" name="">
            <a:extLst xmlns:a="http://schemas.openxmlformats.org/drawingml/2006/main">
              <a:ext uri="{FF2B5EF4-FFF2-40B4-BE49-F238E27FC236}">
                <a16:creationId xmlns:a16="http://schemas.microsoft.com/office/drawing/2014/main" id="{7A3FFEBB-8CA1-4FB4-9D42-E4AE6B27034B}"/>
              </a:ext>
            </a:extLst>
          </p:cNvPr>
          <p:cNvSpPr>
            <a:spLocks xmlns:a="http://schemas.openxmlformats.org/drawingml/2006/main" noGrp="1"/>
          </p:cNvSpPr>
          <p:nvPr/>
        </p:nvSpPr>
        <p:spPr>
          <a:xfrm xmlns:a="http://schemas.openxmlformats.org/drawingml/2006/main">
            <a:off x="449580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8A05E"/>
                </a:solidFill>
                <a:latin typeface="Helvetica Neue"/>
                <a:ea typeface="Helvetica Neue"/>
                <a:cs typeface="Helvetica Neue"/>
              </a:defRPr>
            </a:pPr>
            <a:r>
              <a:rPr sz="900" b="1">
                <a:solidFill>
                  <a:srgbClr val="18A05E"/>
                </a:solidFill>
                <a:latin typeface="Helvetica Neue"/>
                <a:ea typeface="Helvetica Neue"/>
                <a:cs typeface="Helvetica Neue"/>
              </a:rPr>
              <a:t>KOBON TRIANGLES</a:t>
            </a:r>
          </a:p>
        </p:txBody>
      </p:sp>
      <p:sp>
        <p:nvSpPr>
          <p:cNvPr id="8" name="">
            <a:extLst xmlns:a="http://schemas.openxmlformats.org/drawingml/2006/main">
              <a:ext uri="{FF2B5EF4-FFF2-40B4-BE49-F238E27FC236}">
                <a16:creationId xmlns:a16="http://schemas.microsoft.com/office/drawing/2014/main" id="{C74AC066-2299-45A3-99AB-BD98D160B860}"/>
              </a:ext>
            </a:extLst>
          </p:cNvPr>
          <p:cNvSpPr>
            <a:spLocks xmlns:a="http://schemas.openxmlformats.org/drawingml/2006/main" noGrp="1"/>
          </p:cNvSpPr>
          <p:nvPr/>
        </p:nvSpPr>
        <p:spPr>
          <a:xfrm xmlns:a="http://schemas.openxmlformats.org/drawingml/2006/main">
            <a:off x="449580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93 triangles</a:t>
            </a:r>
          </a:p>
        </p:txBody>
      </p:sp>
      <p:sp>
        <p:nvSpPr>
          <p:cNvPr id="9" name="">
            <a:extLst xmlns:a="http://schemas.openxmlformats.org/drawingml/2006/main">
              <a:ext uri="{FF2B5EF4-FFF2-40B4-BE49-F238E27FC236}">
                <a16:creationId xmlns:a16="http://schemas.microsoft.com/office/drawing/2014/main" id="{95C41DDE-B33A-498A-9B44-7EB7EC775E55}"/>
              </a:ext>
            </a:extLst>
          </p:cNvPr>
          <p:cNvSpPr>
            <a:spLocks xmlns:a="http://schemas.openxmlformats.org/drawingml/2006/main" noGrp="1"/>
          </p:cNvSpPr>
          <p:nvPr/>
        </p:nvSpPr>
        <p:spPr>
          <a:xfrm xmlns:a="http://schemas.openxmlformats.org/drawingml/2006/main">
            <a:off x="449580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Published range: 93–94</a:t>
            </a:r>
          </a:p>
        </p:txBody>
      </p:sp>
      <p:sp>
        <p:nvSpPr>
          <p:cNvPr id="10" name="">
            <a:extLst xmlns:a="http://schemas.openxmlformats.org/drawingml/2006/main">
              <a:ext uri="{FF2B5EF4-FFF2-40B4-BE49-F238E27FC236}">
                <a16:creationId xmlns:a16="http://schemas.microsoft.com/office/drawing/2014/main" id="{F47CBA05-3D86-42D6-A70D-4270B8D77748}"/>
              </a:ext>
            </a:extLst>
          </p:cNvPr>
          <p:cNvSpPr>
            <a:spLocks xmlns:a="http://schemas.openxmlformats.org/drawingml/2006/main" noGrp="1"/>
          </p:cNvSpPr>
          <p:nvPr/>
        </p:nvSpPr>
        <p:spPr>
          <a:xfrm xmlns:a="http://schemas.openxmlformats.org/drawingml/2006/main">
            <a:off x="449580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Lean checks exact intersections for 18 lines. Our construction matches the published lower bound; 94 remains open.</a:t>
            </a:r>
          </a:p>
        </p:txBody>
      </p:sp>
      <p:sp>
        <p:nvSpPr>
          <p:cNvPr id="11" name="">
            <a:extLst xmlns:a="http://schemas.openxmlformats.org/drawingml/2006/main">
              <a:ext uri="{FF2B5EF4-FFF2-40B4-BE49-F238E27FC236}">
                <a16:creationId xmlns:a16="http://schemas.microsoft.com/office/drawing/2014/main" id="{15AB9030-21CD-4AD3-9CC2-11DF96C58EFC}"/>
              </a:ext>
            </a:extLst>
          </p:cNvPr>
          <p:cNvSpPr>
            <a:spLocks xmlns:a="http://schemas.openxmlformats.org/drawingml/2006/main" noGrp="1"/>
          </p:cNvSpPr>
          <p:nvPr/>
        </p:nvSpPr>
        <p:spPr>
          <a:xfrm xmlns:a="http://schemas.openxmlformats.org/drawingml/2006/main">
            <a:off x="824865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E85D28"/>
                </a:solidFill>
                <a:latin typeface="Helvetica Neue"/>
                <a:ea typeface="Helvetica Neue"/>
                <a:cs typeface="Helvetica Neue"/>
              </a:defRPr>
            </a:pPr>
            <a:r>
              <a:rPr sz="900" b="1">
                <a:solidFill>
                  <a:srgbClr val="E85D28"/>
                </a:solidFill>
                <a:latin typeface="Helvetica Neue"/>
                <a:ea typeface="Helvetica Neue"/>
                <a:cs typeface="Helvetica Neue"/>
              </a:rPr>
              <a:t>COLLATZ DESCENT</a:t>
            </a:r>
          </a:p>
        </p:txBody>
      </p:sp>
      <p:sp>
        <p:nvSpPr>
          <p:cNvPr id="12" name="">
            <a:extLst xmlns:a="http://schemas.openxmlformats.org/drawingml/2006/main">
              <a:ext uri="{FF2B5EF4-FFF2-40B4-BE49-F238E27FC236}">
                <a16:creationId xmlns:a16="http://schemas.microsoft.com/office/drawing/2014/main" id="{146E2E41-2625-488B-B583-EA155A1E9CB0}"/>
              </a:ext>
            </a:extLst>
          </p:cNvPr>
          <p:cNvSpPr>
            <a:spLocks xmlns:a="http://schemas.openxmlformats.org/drawingml/2006/main" noGrp="1"/>
          </p:cNvSpPr>
          <p:nvPr/>
        </p:nvSpPr>
        <p:spPr>
          <a:xfrm xmlns:a="http://schemas.openxmlformats.org/drawingml/2006/main">
            <a:off x="824865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503 / 503</a:t>
            </a:r>
          </a:p>
        </p:txBody>
      </p:sp>
      <p:sp>
        <p:nvSpPr>
          <p:cNvPr id="13" name="">
            <a:extLst xmlns:a="http://schemas.openxmlformats.org/drawingml/2006/main">
              <a:ext uri="{FF2B5EF4-FFF2-40B4-BE49-F238E27FC236}">
                <a16:creationId xmlns:a16="http://schemas.microsoft.com/office/drawing/2014/main" id="{329F9AB0-ACC9-4C3B-B3CC-4507766B25CA}"/>
              </a:ext>
            </a:extLst>
          </p:cNvPr>
          <p:cNvSpPr>
            <a:spLocks xmlns:a="http://schemas.openxmlformats.org/drawingml/2006/main" noGrp="1"/>
          </p:cNvSpPr>
          <p:nvPr/>
        </p:nvSpPr>
        <p:spPr>
          <a:xfrm xmlns:a="http://schemas.openxmlformats.org/drawingml/2006/main">
            <a:off x="824865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Coverage: provably maximal</a:t>
            </a:r>
          </a:p>
        </p:txBody>
      </p:sp>
      <p:sp>
        <p:nvSpPr>
          <p:cNvPr id="14" name="">
            <a:extLst xmlns:a="http://schemas.openxmlformats.org/drawingml/2006/main">
              <a:ext uri="{FF2B5EF4-FFF2-40B4-BE49-F238E27FC236}">
                <a16:creationId xmlns:a16="http://schemas.microsoft.com/office/drawing/2014/main" id="{CCC970FA-B4A2-45B5-BAA2-AE2207E21DD4}"/>
              </a:ext>
            </a:extLst>
          </p:cNvPr>
          <p:cNvSpPr>
            <a:spLocks xmlns:a="http://schemas.openxmlformats.org/drawingml/2006/main" noGrp="1"/>
          </p:cNvSpPr>
          <p:nvPr/>
        </p:nvSpPr>
        <p:spPr>
          <a:xfrm xmlns:a="http://schemas.openxmlformats.org/drawingml/2006/main">
            <a:off x="824865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Lean's kernel checks every finite descent rule. This does not prove the Collatz conjecture.</a:t>
            </a:r>
          </a:p>
        </p:txBody>
      </p:sp>
      <p:sp>
        <p:nvSpPr>
          <p:cNvPr id="15" name="">
            <a:extLst xmlns:a="http://schemas.openxmlformats.org/drawingml/2006/main">
              <a:ext uri="{FF2B5EF4-FFF2-40B4-BE49-F238E27FC236}">
                <a16:creationId xmlns:a16="http://schemas.microsoft.com/office/drawing/2014/main" id="{6A490716-7277-4C21-92BF-C88CD3F2A63D}"/>
              </a:ext>
            </a:extLst>
          </p:cNvPr>
          <p:cNvSpPr>
            <a:spLocks xmlns:a="http://schemas.openxmlformats.org/drawingml/2006/main" noGrp="1"/>
          </p:cNvSpPr>
          <p:nvPr/>
        </p:nvSpPr>
        <p:spPr>
          <a:xfrm xmlns:a="http://schemas.openxmlformats.org/drawingml/2006/main">
            <a:off x="742950" y="58864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E6E73"/>
                </a:solidFill>
                <a:latin typeface="Helvetica Neue"/>
                <a:ea typeface="Helvetica Neue"/>
                <a:cs typeface="Helvetica Neue"/>
              </a:defRPr>
            </a:pPr>
            <a:r>
              <a:rPr sz="900" b="1">
                <a:solidFill>
                  <a:srgbClr val="6E6E73"/>
                </a:solidFill>
                <a:latin typeface="Helvetica Neue"/>
                <a:ea typeface="Helvetica Neue"/>
                <a:cs typeface="Helvetica Neue"/>
              </a:rPr>
              <a:t>Trust level</a:t>
            </a:r>
          </a:p>
        </p:txBody>
      </p:sp>
      <p:sp>
        <p:nvSpPr>
          <p:cNvPr id="16" name="">
            <a:extLst xmlns:a="http://schemas.openxmlformats.org/drawingml/2006/main">
              <a:ext uri="{FF2B5EF4-FFF2-40B4-BE49-F238E27FC236}">
                <a16:creationId xmlns:a16="http://schemas.microsoft.com/office/drawing/2014/main" id="{1378C6E2-9AC5-4626-A915-009031C30E98}"/>
              </a:ext>
            </a:extLst>
          </p:cNvPr>
          <p:cNvSpPr>
            <a:spLocks xmlns:a="http://schemas.openxmlformats.org/drawingml/2006/main" noGrp="1"/>
          </p:cNvSpPr>
          <p:nvPr/>
        </p:nvSpPr>
        <p:spPr>
          <a:xfrm xmlns:a="http://schemas.openxmlformats.org/drawingml/2006/main">
            <a:off x="1847850" y="5829300"/>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MatMul3 and Collatz use kernel evaluation. Kobon uses native_decide.</a:t>
            </a:r>
          </a:p>
        </p:txBody>
      </p:sp>
    </p:spTree>
    <p:extLst>
      <p:ext uri="{BB962C8B-B14F-4D97-AF65-F5344CB8AC3E}">
        <p14:creationId xmlns:p14="http://schemas.microsoft.com/office/powerpoint/2010/main" val="566628480"/>
      </p:ext>
    </p:extLst>
  </p:cSld>
</p:sld>
</file>

<file path=ppt/slides/slide3.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288B23-7D5C-408B-85D7-EB10A5E991D1}"/>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RAMSEY MULTIPLICITY</a:t>
            </a:r>
          </a:p>
        </p:txBody>
      </p:sp>
      <p:sp>
        <p:nvSpPr>
          <p:cNvPr id="2" name="">
            <a:extLst xmlns:a="http://schemas.openxmlformats.org/drawingml/2006/main">
              <a:ext uri="{FF2B5EF4-FFF2-40B4-BE49-F238E27FC236}">
                <a16:creationId xmlns:a16="http://schemas.microsoft.com/office/drawing/2014/main" id="{68CC0015-5B53-4979-8DB3-D36B52453E9A}"/>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A candidate improvement measured exactly</a:t>
            </a:r>
          </a:p>
        </p:txBody>
      </p:sp>
      <p:sp>
        <p:nvSpPr>
          <p:cNvPr id="3" name="">
            <a:extLst xmlns:a="http://schemas.openxmlformats.org/drawingml/2006/main">
              <a:ext uri="{FF2B5EF4-FFF2-40B4-BE49-F238E27FC236}">
                <a16:creationId xmlns:a16="http://schemas.microsoft.com/office/drawing/2014/main" id="{413ABCE4-B77C-4161-AA51-7377F246B9D5}"/>
              </a:ext>
            </a:extLst>
          </p:cNvPr>
          <p:cNvSpPr>
            <a:spLocks xmlns:a="http://schemas.openxmlformats.org/drawingml/2006/main" noGrp="1"/>
          </p:cNvSpPr>
          <p:nvPr/>
        </p:nvSpPr>
        <p:spPr>
          <a:xfrm xmlns:a="http://schemas.openxmlformats.org/drawingml/2006/main">
            <a:off x="762000" y="18097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0071E3"/>
                </a:solidFill>
                <a:latin typeface="Helvetica Neue"/>
                <a:ea typeface="Helvetica Neue"/>
                <a:cs typeface="Helvetica Neue"/>
              </a:defRPr>
            </a:pPr>
            <a:r>
              <a:rPr sz="900" b="1">
                <a:solidFill>
                  <a:srgbClr val="0071E3"/>
                </a:solidFill>
                <a:latin typeface="Helvetica Neue"/>
                <a:ea typeface="Helvetica Neue"/>
                <a:cs typeface="Helvetica Neue"/>
              </a:rPr>
              <a:t>CURRENT WEIGHTED CERTIFICATE</a:t>
            </a:r>
          </a:p>
        </p:txBody>
      </p:sp>
      <p:sp>
        <p:nvSpPr>
          <p:cNvPr id="4" name="">
            <a:extLst xmlns:a="http://schemas.openxmlformats.org/drawingml/2006/main">
              <a:ext uri="{FF2B5EF4-FFF2-40B4-BE49-F238E27FC236}">
                <a16:creationId xmlns:a16="http://schemas.microsoft.com/office/drawing/2014/main" id="{15382FA0-3222-4489-86BF-4DAC70B987CE}"/>
              </a:ext>
            </a:extLst>
          </p:cNvPr>
          <p:cNvSpPr>
            <a:spLocks xmlns:a="http://schemas.openxmlformats.org/drawingml/2006/main" noGrp="1"/>
          </p:cNvSpPr>
          <p:nvPr/>
        </p:nvSpPr>
        <p:spPr>
          <a:xfrm xmlns:a="http://schemas.openxmlformats.org/drawingml/2006/main">
            <a:off x="742950" y="2105025"/>
            <a:ext cx="5334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D1D1F"/>
                </a:solidFill>
                <a:latin typeface="Helvetica Neue"/>
                <a:ea typeface="Helvetica Neue"/>
                <a:cs typeface="Helvetica Neue"/>
              </a:defRPr>
            </a:pPr>
            <a:r>
              <a:rPr sz="3300" b="1">
                <a:solidFill>
                  <a:srgbClr val="1D1D1F"/>
                </a:solidFill>
                <a:latin typeface="Helvetica Neue"/>
                <a:ea typeface="Helvetica Neue"/>
                <a:cs typeface="Helvetica Neue"/>
              </a:rPr>
              <a:t>0.030142188577</a:t>
            </a:r>
          </a:p>
        </p:txBody>
      </p:sp>
      <p:sp>
        <p:nvSpPr>
          <p:cNvPr id="5" name="">
            <a:extLst xmlns:a="http://schemas.openxmlformats.org/drawingml/2006/main">
              <a:ext uri="{FF2B5EF4-FFF2-40B4-BE49-F238E27FC236}">
                <a16:creationId xmlns:a16="http://schemas.microsoft.com/office/drawing/2014/main" id="{6F202FD2-DB0F-4717-9D12-60330984887D}"/>
              </a:ext>
            </a:extLst>
          </p:cNvPr>
          <p:cNvSpPr>
            <a:spLocks xmlns:a="http://schemas.openxmlformats.org/drawingml/2006/main" noGrp="1"/>
          </p:cNvSpPr>
          <p:nvPr/>
        </p:nvSpPr>
        <p:spPr>
          <a:xfrm xmlns:a="http://schemas.openxmlformats.org/drawingml/2006/main">
            <a:off x="762000" y="278130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6E6E73"/>
                </a:solidFill>
                <a:latin typeface="Helvetica Neue"/>
                <a:ea typeface="Helvetica Neue"/>
                <a:cs typeface="Helvetica Neue"/>
              </a:defRPr>
            </a:pPr>
            <a:r>
              <a:rPr sz="1275" b="1">
                <a:solidFill>
                  <a:srgbClr val="6E6E73"/>
                </a:solidFill>
                <a:latin typeface="Helvetica Neue"/>
                <a:ea typeface="Helvetica Neue"/>
                <a:cs typeface="Helvetica Neue"/>
              </a:rPr>
              <a:t>McKay reference  0.030142273432</a:t>
            </a:r>
          </a:p>
        </p:txBody>
      </p:sp>
      <p:sp>
        <p:nvSpPr>
          <p:cNvPr id="6" name="">
            <a:extLst xmlns:a="http://schemas.openxmlformats.org/drawingml/2006/main">
              <a:ext uri="{FF2B5EF4-FFF2-40B4-BE49-F238E27FC236}">
                <a16:creationId xmlns:a16="http://schemas.microsoft.com/office/drawing/2014/main" id="{CC71AB10-45E8-4DB0-BEB5-8AAC33BC706D}"/>
              </a:ext>
            </a:extLst>
          </p:cNvPr>
          <p:cNvSpPr>
            <a:spLocks xmlns:a="http://schemas.openxmlformats.org/drawingml/2006/main" noGrp="1"/>
          </p:cNvSpPr>
          <p:nvPr/>
        </p:nvSpPr>
        <p:spPr>
          <a:xfrm xmlns:a="http://schemas.openxmlformats.org/drawingml/2006/main">
            <a:off x="762000" y="32099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8A05E"/>
                </a:solidFill>
                <a:latin typeface="Helvetica Neue"/>
                <a:ea typeface="Helvetica Neue"/>
                <a:cs typeface="Helvetica Neue"/>
              </a:defRPr>
            </a:pPr>
            <a:r>
              <a:rPr sz="2100" b="1">
                <a:solidFill>
                  <a:srgbClr val="18A05E"/>
                </a:solidFill>
                <a:latin typeface="Helvetica Neue"/>
                <a:ea typeface="Helvetica Neue"/>
                <a:cs typeface="Helvetica Neue"/>
              </a:rPr>
              <a:t>↓ 0.000282%</a:t>
            </a:r>
          </a:p>
        </p:txBody>
      </p:sp>
      <p:sp>
        <p:nvSpPr>
          <p:cNvPr id="7" name="">
            <a:extLst xmlns:a="http://schemas.openxmlformats.org/drawingml/2006/main">
              <a:ext uri="{FF2B5EF4-FFF2-40B4-BE49-F238E27FC236}">
                <a16:creationId xmlns:a16="http://schemas.microsoft.com/office/drawing/2014/main" id="{6ADD66CF-2758-44D5-A27A-6AE7A578F21E}"/>
              </a:ext>
            </a:extLst>
          </p:cNvPr>
          <p:cNvSpPr>
            <a:spLocks xmlns:a="http://schemas.openxmlformats.org/drawingml/2006/main" noGrp="1"/>
          </p:cNvSpPr>
          <p:nvPr/>
        </p:nvSpPr>
        <p:spPr>
          <a:xfrm xmlns:a="http://schemas.openxmlformats.org/drawingml/2006/main">
            <a:off x="762000" y="3886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8A05E"/>
                </a:solidFill>
                <a:latin typeface="Helvetica Neue"/>
                <a:ea typeface="Helvetica Neue"/>
                <a:cs typeface="Helvetica Neue"/>
              </a:defRPr>
            </a:pPr>
            <a:r>
              <a:rPr sz="825" b="1">
                <a:solidFill>
                  <a:srgbClr val="18A05E"/>
                </a:solidFill>
                <a:latin typeface="Helvetica Neue"/>
                <a:ea typeface="Helvetica Neue"/>
                <a:cs typeface="Helvetica Neue"/>
              </a:rPr>
              <a:t>EXACT GAP AND SEARCH COMPARISON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32b2092ca684c56"/>
          <a:stretch xmlns:a="http://schemas.openxmlformats.org/drawingml/2006/main"/>
        </p:blipFill>
        <p:spPr>
          <a:xfrm xmlns:a="http://schemas.openxmlformats.org/drawingml/2006/main">
            <a:off x="1520825" y="4095750"/>
            <a:ext cx="4521200" cy="169545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68182c8bd3643cd"/>
          <a:stretch xmlns:a="http://schemas.openxmlformats.org/drawingml/2006/main"/>
        </p:blipFill>
        <p:spPr>
          <a:xfrm xmlns:a="http://schemas.openxmlformats.org/drawingml/2006/main">
            <a:off x="7543800" y="1892754"/>
            <a:ext cx="3333750" cy="312964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7BA42A1-21AE-4C1C-8A45-5989F11CE37B}"/>
              </a:ext>
            </a:extLst>
          </p:cNvPr>
          <p:cNvSpPr>
            <a:spLocks xmlns:a="http://schemas.openxmlformats.org/drawingml/2006/main" noGrp="1"/>
          </p:cNvSpPr>
          <p:nvPr/>
        </p:nvSpPr>
        <p:spPr>
          <a:xfrm xmlns:a="http://schemas.openxmlformats.org/drawingml/2006/main">
            <a:off x="7219950" y="52197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The official evaluator confirms the exact weighted certificate. Uniform edge search remained above the reference.</a:t>
            </a:r>
          </a:p>
        </p:txBody>
      </p:sp>
      <p:sp>
        <p:nvSpPr>
          <p:cNvPr id="11" name="">
            <a:extLst xmlns:a="http://schemas.openxmlformats.org/drawingml/2006/main">
              <a:ext uri="{FF2B5EF4-FFF2-40B4-BE49-F238E27FC236}">
                <a16:creationId xmlns:a16="http://schemas.microsoft.com/office/drawing/2014/main" id="{0FE2C436-E905-419E-8987-066C266DE3F3}"/>
              </a:ext>
            </a:extLst>
          </p:cNvPr>
          <p:cNvSpPr>
            <a:spLocks xmlns:a="http://schemas.openxmlformats.org/drawingml/2006/main" noGrp="1"/>
          </p:cNvSpPr>
          <p:nvPr/>
        </p:nvSpPr>
        <p:spPr>
          <a:xfrm xmlns:a="http://schemas.openxmlformats.org/drawingml/2006/main">
            <a:off x="762000" y="60198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E6E73"/>
                </a:solidFill>
                <a:latin typeface="Helvetica Neue"/>
                <a:ea typeface="Helvetica Neue"/>
                <a:cs typeface="Helvetica Neue"/>
              </a:defRPr>
            </a:pPr>
            <a:r>
              <a:rPr sz="1200" b="0">
                <a:solidFill>
                  <a:srgbClr val="6E6E73"/>
                </a:solidFill>
                <a:latin typeface="Helvetica Neue"/>
                <a:ea typeface="Helvetica Neue"/>
                <a:cs typeface="Helvetica Neue"/>
              </a:rPr>
              <a:t>Unreviewed candidate improvement; not a solution of Ramsey multiplicity.</a:t>
            </a:r>
          </a:p>
        </p:txBody>
      </p:sp>
    </p:spTree>
    <p:extLst>
      <p:ext uri="{BB962C8B-B14F-4D97-AF65-F5344CB8AC3E}">
        <p14:creationId xmlns:p14="http://schemas.microsoft.com/office/powerpoint/2010/main" val="1219286179"/>
      </p:ext>
    </p:extLst>
  </p:cSld>
</p:sld>
</file>

<file path=ppt/slides/slide4.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0C8A29-F57D-4E59-A3AF-6A500445F33F}"/>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MATRIX MULTIPLICATION</a:t>
            </a:r>
          </a:p>
        </p:txBody>
      </p:sp>
      <p:sp>
        <p:nvSpPr>
          <p:cNvPr id="2" name="">
            <a:extLst xmlns:a="http://schemas.openxmlformats.org/drawingml/2006/main">
              <a:ext uri="{FF2B5EF4-FFF2-40B4-BE49-F238E27FC236}">
                <a16:creationId xmlns:a16="http://schemas.microsoft.com/office/drawing/2014/main" id="{310CAC79-C7D9-4AC9-B36C-7907EB4167F3}"/>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Our strongest formally verified result</a:t>
            </a:r>
          </a:p>
        </p:txBody>
      </p:sp>
      <p:sp>
        <p:nvSpPr>
          <p:cNvPr id="3" name="">
            <a:extLst xmlns:a="http://schemas.openxmlformats.org/drawingml/2006/main">
              <a:ext uri="{FF2B5EF4-FFF2-40B4-BE49-F238E27FC236}">
                <a16:creationId xmlns:a16="http://schemas.microsoft.com/office/drawing/2014/main" id="{22D5CBAF-3727-42C5-B810-B7173D83042D}"/>
              </a:ext>
            </a:extLst>
          </p:cNvPr>
          <p:cNvSpPr>
            <a:spLocks xmlns:a="http://schemas.openxmlformats.org/drawingml/2006/main" noGrp="1"/>
          </p:cNvSpPr>
          <p:nvPr/>
        </p:nvSpPr>
        <p:spPr>
          <a:xfrm xmlns:a="http://schemas.openxmlformats.org/drawingml/2006/main">
            <a:off x="74295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0071E3"/>
                </a:solidFill>
                <a:latin typeface="Helvetica Neue"/>
                <a:ea typeface="Helvetica Neue"/>
                <a:cs typeface="Helvetica Neue"/>
              </a:defRPr>
            </a:pPr>
            <a:r>
              <a:rPr sz="900" b="1">
                <a:solidFill>
                  <a:srgbClr val="0071E3"/>
                </a:solidFill>
                <a:latin typeface="Helvetica Neue"/>
                <a:ea typeface="Helvetica Neue"/>
                <a:cs typeface="Helvetica Neue"/>
              </a:rPr>
              <a:t>MULTIPLICATIONS</a:t>
            </a:r>
          </a:p>
        </p:txBody>
      </p:sp>
      <p:sp>
        <p:nvSpPr>
          <p:cNvPr id="4" name="">
            <a:extLst xmlns:a="http://schemas.openxmlformats.org/drawingml/2006/main">
              <a:ext uri="{FF2B5EF4-FFF2-40B4-BE49-F238E27FC236}">
                <a16:creationId xmlns:a16="http://schemas.microsoft.com/office/drawing/2014/main" id="{4D84B532-A11C-4227-A7B0-2AF4E817E579}"/>
              </a:ext>
            </a:extLst>
          </p:cNvPr>
          <p:cNvSpPr>
            <a:spLocks xmlns:a="http://schemas.openxmlformats.org/drawingml/2006/main" noGrp="1"/>
          </p:cNvSpPr>
          <p:nvPr/>
        </p:nvSpPr>
        <p:spPr>
          <a:xfrm xmlns:a="http://schemas.openxmlformats.org/drawingml/2006/main">
            <a:off x="74295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04B32592-ADD2-4075-BE81-86F2242F69A2}"/>
              </a:ext>
            </a:extLst>
          </p:cNvPr>
          <p:cNvSpPr>
            <a:spLocks xmlns:a="http://schemas.openxmlformats.org/drawingml/2006/main" noGrp="1"/>
          </p:cNvSpPr>
          <p:nvPr/>
        </p:nvSpPr>
        <p:spPr>
          <a:xfrm xmlns:a="http://schemas.openxmlformats.org/drawingml/2006/main">
            <a:off x="74295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Best known: 23  ·  lower bound: 19</a:t>
            </a:r>
          </a:p>
        </p:txBody>
      </p:sp>
      <p:sp>
        <p:nvSpPr>
          <p:cNvPr id="6" name="">
            <a:extLst xmlns:a="http://schemas.openxmlformats.org/drawingml/2006/main">
              <a:ext uri="{FF2B5EF4-FFF2-40B4-BE49-F238E27FC236}">
                <a16:creationId xmlns:a16="http://schemas.microsoft.com/office/drawing/2014/main" id="{DCEC241C-A116-4FC8-9122-DE9FBAF5EDD0}"/>
              </a:ext>
            </a:extLst>
          </p:cNvPr>
          <p:cNvSpPr>
            <a:spLocks xmlns:a="http://schemas.openxmlformats.org/drawingml/2006/main" noGrp="1"/>
          </p:cNvSpPr>
          <p:nvPr/>
        </p:nvSpPr>
        <p:spPr>
          <a:xfrm xmlns:a="http://schemas.openxmlformats.org/drawingml/2006/main">
            <a:off x="74295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The open question is whether 22 multiplications are possible.</a:t>
            </a:r>
          </a:p>
        </p:txBody>
      </p:sp>
      <p:sp>
        <p:nvSpPr>
          <p:cNvPr id="7" name="">
            <a:extLst xmlns:a="http://schemas.openxmlformats.org/drawingml/2006/main">
              <a:ext uri="{FF2B5EF4-FFF2-40B4-BE49-F238E27FC236}">
                <a16:creationId xmlns:a16="http://schemas.microsoft.com/office/drawing/2014/main" id="{D0FB6FD3-3C68-4F5D-B27B-8C94D9E13E68}"/>
              </a:ext>
            </a:extLst>
          </p:cNvPr>
          <p:cNvSpPr>
            <a:spLocks xmlns:a="http://schemas.openxmlformats.org/drawingml/2006/main" noGrp="1"/>
          </p:cNvSpPr>
          <p:nvPr/>
        </p:nvSpPr>
        <p:spPr>
          <a:xfrm xmlns:a="http://schemas.openxmlformats.org/drawingml/2006/main">
            <a:off x="449580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8A05E"/>
                </a:solidFill>
                <a:latin typeface="Helvetica Neue"/>
                <a:ea typeface="Helvetica Neue"/>
                <a:cs typeface="Helvetica Neue"/>
              </a:defRPr>
            </a:pPr>
            <a:r>
              <a:rPr sz="900" b="1">
                <a:solidFill>
                  <a:srgbClr val="18A05E"/>
                </a:solidFill>
                <a:latin typeface="Helvetica Neue"/>
                <a:ea typeface="Helvetica Neue"/>
                <a:cs typeface="Helvetica Neue"/>
              </a:rPr>
              <a:t>SUPPORT</a:t>
            </a:r>
          </a:p>
        </p:txBody>
      </p:sp>
      <p:sp>
        <p:nvSpPr>
          <p:cNvPr id="8" name="">
            <a:extLst xmlns:a="http://schemas.openxmlformats.org/drawingml/2006/main">
              <a:ext uri="{FF2B5EF4-FFF2-40B4-BE49-F238E27FC236}">
                <a16:creationId xmlns:a16="http://schemas.microsoft.com/office/drawing/2014/main" id="{92962ADC-A582-4A43-8A00-07016B4D4D10}"/>
              </a:ext>
            </a:extLst>
          </p:cNvPr>
          <p:cNvSpPr>
            <a:spLocks xmlns:a="http://schemas.openxmlformats.org/drawingml/2006/main" noGrp="1"/>
          </p:cNvSpPr>
          <p:nvPr/>
        </p:nvSpPr>
        <p:spPr>
          <a:xfrm xmlns:a="http://schemas.openxmlformats.org/drawingml/2006/main">
            <a:off x="449580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139</a:t>
            </a:r>
          </a:p>
        </p:txBody>
      </p:sp>
      <p:sp>
        <p:nvSpPr>
          <p:cNvPr id="9" name="">
            <a:extLst xmlns:a="http://schemas.openxmlformats.org/drawingml/2006/main">
              <a:ext uri="{FF2B5EF4-FFF2-40B4-BE49-F238E27FC236}">
                <a16:creationId xmlns:a16="http://schemas.microsoft.com/office/drawing/2014/main" id="{8BBD10C9-D70D-4D11-89EA-A8C191E88631}"/>
              </a:ext>
            </a:extLst>
          </p:cNvPr>
          <p:cNvSpPr>
            <a:spLocks xmlns:a="http://schemas.openxmlformats.org/drawingml/2006/main" noGrp="1"/>
          </p:cNvSpPr>
          <p:nvPr/>
        </p:nvSpPr>
        <p:spPr>
          <a:xfrm xmlns:a="http://schemas.openxmlformats.org/drawingml/2006/main">
            <a:off x="449580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Next HKS: 140  ·  Laderman: 153</a:t>
            </a:r>
          </a:p>
        </p:txBody>
      </p:sp>
      <p:sp>
        <p:nvSpPr>
          <p:cNvPr id="10" name="">
            <a:extLst xmlns:a="http://schemas.openxmlformats.org/drawingml/2006/main">
              <a:ext uri="{FF2B5EF4-FFF2-40B4-BE49-F238E27FC236}">
                <a16:creationId xmlns:a16="http://schemas.microsoft.com/office/drawing/2014/main" id="{AC12692E-E85A-46E1-BCFB-76522D72D600}"/>
              </a:ext>
            </a:extLst>
          </p:cNvPr>
          <p:cNvSpPr>
            <a:spLocks xmlns:a="http://schemas.openxmlformats.org/drawingml/2006/main" noGrp="1"/>
          </p:cNvSpPr>
          <p:nvPr/>
        </p:nvSpPr>
        <p:spPr>
          <a:xfrm xmlns:a="http://schemas.openxmlformats.org/drawingml/2006/main">
            <a:off x="449580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Support 139 is the minimum across all 17,372 published HKS schemes.</a:t>
            </a:r>
          </a:p>
        </p:txBody>
      </p:sp>
      <p:sp>
        <p:nvSpPr>
          <p:cNvPr id="11" name="">
            <a:extLst xmlns:a="http://schemas.openxmlformats.org/drawingml/2006/main">
              <a:ext uri="{FF2B5EF4-FFF2-40B4-BE49-F238E27FC236}">
                <a16:creationId xmlns:a16="http://schemas.microsoft.com/office/drawing/2014/main" id="{0DEF92AB-5FB1-493B-B818-881772B29C3D}"/>
              </a:ext>
            </a:extLst>
          </p:cNvPr>
          <p:cNvSpPr>
            <a:spLocks xmlns:a="http://schemas.openxmlformats.org/drawingml/2006/main" noGrp="1"/>
          </p:cNvSpPr>
          <p:nvPr/>
        </p:nvSpPr>
        <p:spPr>
          <a:xfrm xmlns:a="http://schemas.openxmlformats.org/drawingml/2006/main">
            <a:off x="8248650" y="1952625"/>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E85D28"/>
                </a:solidFill>
                <a:latin typeface="Helvetica Neue"/>
                <a:ea typeface="Helvetica Neue"/>
                <a:cs typeface="Helvetica Neue"/>
              </a:defRPr>
            </a:pPr>
            <a:r>
              <a:rPr sz="900" b="1">
                <a:solidFill>
                  <a:srgbClr val="E85D28"/>
                </a:solidFill>
                <a:latin typeface="Helvetica Neue"/>
                <a:ea typeface="Helvetica Neue"/>
                <a:cs typeface="Helvetica Neue"/>
              </a:rPr>
              <a:t>FORMAL CHECK</a:t>
            </a:r>
          </a:p>
        </p:txBody>
      </p:sp>
      <p:sp>
        <p:nvSpPr>
          <p:cNvPr id="12" name="">
            <a:extLst xmlns:a="http://schemas.openxmlformats.org/drawingml/2006/main">
              <a:ext uri="{FF2B5EF4-FFF2-40B4-BE49-F238E27FC236}">
                <a16:creationId xmlns:a16="http://schemas.microsoft.com/office/drawing/2014/main" id="{35F06290-D4E5-475F-B9AF-4C9443F0C13B}"/>
              </a:ext>
            </a:extLst>
          </p:cNvPr>
          <p:cNvSpPr>
            <a:spLocks xmlns:a="http://schemas.openxmlformats.org/drawingml/2006/main" noGrp="1"/>
          </p:cNvSpPr>
          <p:nvPr/>
        </p:nvSpPr>
        <p:spPr>
          <a:xfrm xmlns:a="http://schemas.openxmlformats.org/drawingml/2006/main">
            <a:off x="8248650" y="23145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729 / 729</a:t>
            </a:r>
          </a:p>
        </p:txBody>
      </p:sp>
      <p:sp>
        <p:nvSpPr>
          <p:cNvPr id="13" name="">
            <a:extLst xmlns:a="http://schemas.openxmlformats.org/drawingml/2006/main">
              <a:ext uri="{FF2B5EF4-FFF2-40B4-BE49-F238E27FC236}">
                <a16:creationId xmlns:a16="http://schemas.microsoft.com/office/drawing/2014/main" id="{63BFCE1C-7B12-4AF6-A02F-0629A60BA975}"/>
              </a:ext>
            </a:extLst>
          </p:cNvPr>
          <p:cNvSpPr>
            <a:spLocks xmlns:a="http://schemas.openxmlformats.org/drawingml/2006/main" noGrp="1"/>
          </p:cNvSpPr>
          <p:nvPr/>
        </p:nvSpPr>
        <p:spPr>
          <a:xfrm xmlns:a="http://schemas.openxmlformats.org/drawingml/2006/main">
            <a:off x="8248650" y="30194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E6E73"/>
                </a:solidFill>
                <a:latin typeface="Helvetica Neue"/>
                <a:ea typeface="Helvetica Neue"/>
                <a:cs typeface="Helvetica Neue"/>
              </a:defRPr>
            </a:pPr>
            <a:r>
              <a:rPr sz="1200" b="1">
                <a:solidFill>
                  <a:srgbClr val="6E6E73"/>
                </a:solidFill>
                <a:latin typeface="Helvetica Neue"/>
                <a:ea typeface="Helvetica Neue"/>
                <a:cs typeface="Helvetica Neue"/>
              </a:rPr>
              <a:t>All Brent identities</a:t>
            </a:r>
          </a:p>
        </p:txBody>
      </p:sp>
      <p:sp>
        <p:nvSpPr>
          <p:cNvPr id="14" name="">
            <a:extLst xmlns:a="http://schemas.openxmlformats.org/drawingml/2006/main">
              <a:ext uri="{FF2B5EF4-FFF2-40B4-BE49-F238E27FC236}">
                <a16:creationId xmlns:a16="http://schemas.microsoft.com/office/drawing/2014/main" id="{AC94512A-3C3C-4E2A-B7BF-D480A02F3D1C}"/>
              </a:ext>
            </a:extLst>
          </p:cNvPr>
          <p:cNvSpPr>
            <a:spLocks xmlns:a="http://schemas.openxmlformats.org/drawingml/2006/main" noGrp="1"/>
          </p:cNvSpPr>
          <p:nvPr/>
        </p:nvSpPr>
        <p:spPr>
          <a:xfrm xmlns:a="http://schemas.openxmlformats.org/drawingml/2006/main">
            <a:off x="8248650" y="3514725"/>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Lean verifies the tensor coefficient by coefficient using exact kernel evaluation.</a:t>
            </a:r>
          </a:p>
        </p:txBody>
      </p:sp>
      <p:sp>
        <p:nvSpPr>
          <p:cNvPr id="15" name="">
            <a:extLst xmlns:a="http://schemas.openxmlformats.org/drawingml/2006/main">
              <a:ext uri="{FF2B5EF4-FFF2-40B4-BE49-F238E27FC236}">
                <a16:creationId xmlns:a16="http://schemas.microsoft.com/office/drawing/2014/main" id="{DBC4434F-ED17-4F42-B9F6-828260446DF5}"/>
              </a:ext>
            </a:extLst>
          </p:cNvPr>
          <p:cNvSpPr>
            <a:spLocks xmlns:a="http://schemas.openxmlformats.org/drawingml/2006/main" noGrp="1"/>
          </p:cNvSpPr>
          <p:nvPr/>
        </p:nvSpPr>
        <p:spPr>
          <a:xfrm xmlns:a="http://schemas.openxmlformats.org/drawingml/2006/main">
            <a:off x="742950" y="56578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0071E3"/>
                </a:solidFill>
                <a:latin typeface="Helvetica Neue"/>
                <a:ea typeface="Helvetica Neue"/>
                <a:cs typeface="Helvetica Neue"/>
              </a:defRPr>
            </a:pPr>
            <a:r>
              <a:rPr sz="900" b="1">
                <a:solidFill>
                  <a:srgbClr val="0071E3"/>
                </a:solidFill>
                <a:latin typeface="Helvetica Neue"/>
                <a:ea typeface="Helvetica Neue"/>
                <a:cs typeface="Helvetica Neue"/>
              </a:rPr>
              <a:t>CONTRIBUTION</a:t>
            </a:r>
          </a:p>
        </p:txBody>
      </p:sp>
      <p:sp>
        <p:nvSpPr>
          <p:cNvPr id="16" name="">
            <a:extLst xmlns:a="http://schemas.openxmlformats.org/drawingml/2006/main">
              <a:ext uri="{FF2B5EF4-FFF2-40B4-BE49-F238E27FC236}">
                <a16:creationId xmlns:a16="http://schemas.microsoft.com/office/drawing/2014/main" id="{A2CEF4BC-63A1-4AE9-816A-7B9C2971E2AC}"/>
              </a:ext>
            </a:extLst>
          </p:cNvPr>
          <p:cNvSpPr>
            <a:spLocks xmlns:a="http://schemas.openxmlformats.org/drawingml/2006/main" noGrp="1"/>
          </p:cNvSpPr>
          <p:nvPr/>
        </p:nvSpPr>
        <p:spPr>
          <a:xfrm xmlns:a="http://schemas.openxmlformats.org/drawingml/2006/main">
            <a:off x="2133600" y="55816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Complete database metric scan plus an exact Lean certificate. The algorithm itself was already published.</a:t>
            </a:r>
          </a:p>
        </p:txBody>
      </p:sp>
    </p:spTree>
    <p:extLst>
      <p:ext uri="{BB962C8B-B14F-4D97-AF65-F5344CB8AC3E}">
        <p14:creationId xmlns:p14="http://schemas.microsoft.com/office/powerpoint/2010/main" val="480396267"/>
      </p:ext>
    </p:extLst>
  </p:cSld>
</p:sld>
</file>

<file path=ppt/slides/slide5.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4164C53-9AAA-41F3-AA57-3DF9E4519034}"/>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EXACT CERTIFICATES</a:t>
            </a:r>
          </a:p>
        </p:txBody>
      </p:sp>
      <p:sp>
        <p:nvSpPr>
          <p:cNvPr id="2" name="">
            <a:extLst xmlns:a="http://schemas.openxmlformats.org/drawingml/2006/main">
              <a:ext uri="{FF2B5EF4-FFF2-40B4-BE49-F238E27FC236}">
                <a16:creationId xmlns:a16="http://schemas.microsoft.com/office/drawing/2014/main" id="{2A760631-0AE6-4D56-99A8-0C5C6050C06B}"/>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Small witnesses and long computations</a:t>
            </a:r>
          </a:p>
        </p:txBody>
      </p:sp>
      <p:sp>
        <p:nvSpPr>
          <p:cNvPr id="3" name="">
            <a:extLst xmlns:a="http://schemas.openxmlformats.org/drawingml/2006/main">
              <a:ext uri="{FF2B5EF4-FFF2-40B4-BE49-F238E27FC236}">
                <a16:creationId xmlns:a16="http://schemas.microsoft.com/office/drawing/2014/main" id="{2152784A-0E60-4692-9815-9A320214ECD7}"/>
              </a:ext>
            </a:extLst>
          </p:cNvPr>
          <p:cNvSpPr>
            <a:spLocks xmlns:a="http://schemas.openxmlformats.org/drawingml/2006/main" noGrp="1"/>
          </p:cNvSpPr>
          <p:nvPr/>
        </p:nvSpPr>
        <p:spPr>
          <a:xfrm xmlns:a="http://schemas.openxmlformats.org/drawingml/2006/main">
            <a:off x="762000" y="20002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GROTHENDIECK WITNESS</a:t>
            </a:r>
          </a:p>
        </p:txBody>
      </p:sp>
      <p:sp>
        <p:nvSpPr>
          <p:cNvPr id="4" name="">
            <a:extLst xmlns:a="http://schemas.openxmlformats.org/drawingml/2006/main">
              <a:ext uri="{FF2B5EF4-FFF2-40B4-BE49-F238E27FC236}">
                <a16:creationId xmlns:a16="http://schemas.microsoft.com/office/drawing/2014/main" id="{7310EDCA-3534-4525-A4E7-E25724B0537F}"/>
              </a:ext>
            </a:extLst>
          </p:cNvPr>
          <p:cNvSpPr>
            <a:spLocks xmlns:a="http://schemas.openxmlformats.org/drawingml/2006/main" noGrp="1"/>
          </p:cNvSpPr>
          <p:nvPr/>
        </p:nvSpPr>
        <p:spPr>
          <a:xfrm xmlns:a="http://schemas.openxmlformats.org/drawingml/2006/main">
            <a:off x="742950" y="236220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1393 / 985</a:t>
            </a:r>
          </a:p>
        </p:txBody>
      </p:sp>
      <p:sp>
        <p:nvSpPr>
          <p:cNvPr id="5" name="">
            <a:extLst xmlns:a="http://schemas.openxmlformats.org/drawingml/2006/main">
              <a:ext uri="{FF2B5EF4-FFF2-40B4-BE49-F238E27FC236}">
                <a16:creationId xmlns:a16="http://schemas.microsoft.com/office/drawing/2014/main" id="{080A2121-A007-4BC8-9D41-F7F602EA642B}"/>
              </a:ext>
            </a:extLst>
          </p:cNvPr>
          <p:cNvSpPr>
            <a:spLocks xmlns:a="http://schemas.openxmlformats.org/drawingml/2006/main" noGrp="1"/>
          </p:cNvSpPr>
          <p:nvPr/>
        </p:nvSpPr>
        <p:spPr>
          <a:xfrm xmlns:a="http://schemas.openxmlformats.org/drawingml/2006/main">
            <a:off x="762000" y="31432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Helvetica Neue"/>
                <a:ea typeface="Helvetica Neue"/>
                <a:cs typeface="Helvetica Neue"/>
              </a:defRPr>
            </a:pPr>
            <a:r>
              <a:rPr sz="1650" b="0">
                <a:solidFill>
                  <a:srgbClr val="6E6E73"/>
                </a:solidFill>
                <a:latin typeface="Helvetica Neue"/>
                <a:ea typeface="Helvetica Neue"/>
                <a:cs typeface="Helvetica Neue"/>
              </a:rPr>
              <a:t>≈ 1.414213198</a:t>
            </a:r>
          </a:p>
        </p:txBody>
      </p:sp>
      <p:sp>
        <p:nvSpPr>
          <p:cNvPr id="6" name="">
            <a:extLst xmlns:a="http://schemas.openxmlformats.org/drawingml/2006/main">
              <a:ext uri="{FF2B5EF4-FFF2-40B4-BE49-F238E27FC236}">
                <a16:creationId xmlns:a16="http://schemas.microsoft.com/office/drawing/2014/main" id="{42ABC59C-B02A-4012-A76B-53D3259F2C5A}"/>
              </a:ext>
            </a:extLst>
          </p:cNvPr>
          <p:cNvSpPr>
            <a:spLocks xmlns:a="http://schemas.openxmlformats.org/drawingml/2006/main" noGrp="1"/>
          </p:cNvSpPr>
          <p:nvPr/>
        </p:nvSpPr>
        <p:spPr>
          <a:xfrm xmlns:a="http://schemas.openxmlformats.org/drawingml/2006/main">
            <a:off x="762000" y="37147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8A05E"/>
                </a:solidFill>
                <a:latin typeface="Helvetica Neue"/>
                <a:ea typeface="Helvetica Neue"/>
                <a:cs typeface="Helvetica Neue"/>
              </a:defRPr>
            </a:pPr>
            <a:r>
              <a:rPr sz="1425" b="1">
                <a:solidFill>
                  <a:srgbClr val="18A05E"/>
                </a:solidFill>
                <a:latin typeface="Helvetica Neue"/>
                <a:ea typeface="Helvetica Neue"/>
                <a:cs typeface="Helvetica Neue"/>
              </a:rPr>
              <a:t>2 × 2 theoretical cap: √2 ≈ 1.414213562</a:t>
            </a:r>
          </a:p>
        </p:txBody>
      </p:sp>
      <p:sp>
        <p:nvSpPr>
          <p:cNvPr id="7" name="">
            <a:extLst xmlns:a="http://schemas.openxmlformats.org/drawingml/2006/main">
              <a:ext uri="{FF2B5EF4-FFF2-40B4-BE49-F238E27FC236}">
                <a16:creationId xmlns:a16="http://schemas.microsoft.com/office/drawing/2014/main" id="{359A0F4E-97A2-405C-A9F6-0751327166B6}"/>
              </a:ext>
            </a:extLst>
          </p:cNvPr>
          <p:cNvSpPr>
            <a:spLocks xmlns:a="http://schemas.openxmlformats.org/drawingml/2006/main" noGrp="1"/>
          </p:cNvSpPr>
          <p:nvPr/>
        </p:nvSpPr>
        <p:spPr>
          <a:xfrm xmlns:a="http://schemas.openxmlformats.org/drawingml/2006/main">
            <a:off x="762000" y="430530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E6E73"/>
                </a:solidFill>
                <a:latin typeface="Helvetica Neue"/>
                <a:ea typeface="Helvetica Neue"/>
                <a:cs typeface="Helvetica Neue"/>
              </a:defRPr>
            </a:pPr>
            <a:r>
              <a:rPr sz="1500" b="0">
                <a:solidFill>
                  <a:srgbClr val="6E6E73"/>
                </a:solidFill>
                <a:latin typeface="Helvetica Neue"/>
                <a:ea typeface="Helvetica Neue"/>
                <a:cs typeface="Helvetica Neue"/>
              </a:rPr>
              <a:t>An 86-bit rational certificate approaches the exact cap at the smallest matrix size.</a:t>
            </a:r>
          </a:p>
        </p:txBody>
      </p:sp>
      <p:sp>
        <p:nvSpPr>
          <p:cNvPr id="8" name="">
            <a:extLst xmlns:a="http://schemas.openxmlformats.org/drawingml/2006/main">
              <a:ext uri="{FF2B5EF4-FFF2-40B4-BE49-F238E27FC236}">
                <a16:creationId xmlns:a16="http://schemas.microsoft.com/office/drawing/2014/main" id="{93388663-2E00-43C1-9F8B-E4AF4D9EF5D3}"/>
              </a:ext>
            </a:extLst>
          </p:cNvPr>
          <p:cNvSpPr>
            <a:spLocks xmlns:a="http://schemas.openxmlformats.org/drawingml/2006/main" noGrp="1"/>
          </p:cNvSpPr>
          <p:nvPr/>
        </p:nvSpPr>
        <p:spPr>
          <a:xfrm xmlns:a="http://schemas.openxmlformats.org/drawingml/2006/main">
            <a:off x="6477000" y="20002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E85D28"/>
                </a:solidFill>
                <a:latin typeface="Helvetica Neue"/>
                <a:ea typeface="Helvetica Neue"/>
                <a:cs typeface="Helvetica Neue"/>
              </a:defRPr>
            </a:pPr>
            <a:r>
              <a:rPr sz="975" b="1">
                <a:solidFill>
                  <a:srgbClr val="E85D28"/>
                </a:solidFill>
                <a:latin typeface="Helvetica Neue"/>
                <a:ea typeface="Helvetica Neue"/>
                <a:cs typeface="Helvetica Neue"/>
              </a:rPr>
              <a:t>BUSY BEAVER CHALLENGE</a:t>
            </a:r>
          </a:p>
        </p:txBody>
      </p:sp>
      <p:sp>
        <p:nvSpPr>
          <p:cNvPr id="9" name="">
            <a:extLst xmlns:a="http://schemas.openxmlformats.org/drawingml/2006/main">
              <a:ext uri="{FF2B5EF4-FFF2-40B4-BE49-F238E27FC236}">
                <a16:creationId xmlns:a16="http://schemas.microsoft.com/office/drawing/2014/main" id="{FF1E18ED-F2C7-487F-819F-D02CBCF69AAB}"/>
              </a:ext>
            </a:extLst>
          </p:cNvPr>
          <p:cNvSpPr>
            <a:spLocks xmlns:a="http://schemas.openxmlformats.org/drawingml/2006/main" noGrp="1"/>
          </p:cNvSpPr>
          <p:nvPr/>
        </p:nvSpPr>
        <p:spPr>
          <a:xfrm xmlns:a="http://schemas.openxmlformats.org/drawingml/2006/main">
            <a:off x="6457950" y="236220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238,238 steps</a:t>
            </a:r>
          </a:p>
        </p:txBody>
      </p:sp>
      <p:sp>
        <p:nvSpPr>
          <p:cNvPr id="10" name="">
            <a:extLst xmlns:a="http://schemas.openxmlformats.org/drawingml/2006/main">
              <a:ext uri="{FF2B5EF4-FFF2-40B4-BE49-F238E27FC236}">
                <a16:creationId xmlns:a16="http://schemas.microsoft.com/office/drawing/2014/main" id="{81F3C918-385A-4E14-ADD0-5FBAD23C470D}"/>
              </a:ext>
            </a:extLst>
          </p:cNvPr>
          <p:cNvSpPr>
            <a:spLocks xmlns:a="http://schemas.openxmlformats.org/drawingml/2006/main" noGrp="1"/>
          </p:cNvSpPr>
          <p:nvPr/>
        </p:nvSpPr>
        <p:spPr>
          <a:xfrm xmlns:a="http://schemas.openxmlformats.org/drawingml/2006/main">
            <a:off x="6477000" y="31432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8A05E"/>
                </a:solidFill>
                <a:latin typeface="Helvetica Neue"/>
                <a:ea typeface="Helvetica Neue"/>
                <a:cs typeface="Helvetica Neue"/>
              </a:defRPr>
            </a:pPr>
            <a:r>
              <a:rPr sz="1425" b="1">
                <a:solidFill>
                  <a:srgbClr val="18A05E"/>
                </a:solidFill>
                <a:latin typeface="Helvetica Neue"/>
                <a:ea typeface="Helvetica Neue"/>
                <a:cs typeface="Helvetica Neue"/>
              </a:rPr>
              <a:t>Challenge budget: 250,000  ·  baseline: 6</a:t>
            </a:r>
          </a:p>
        </p:txBody>
      </p:sp>
      <p:sp>
        <p:nvSpPr>
          <p:cNvPr id="11" name="">
            <a:extLst xmlns:a="http://schemas.openxmlformats.org/drawingml/2006/main">
              <a:ext uri="{FF2B5EF4-FFF2-40B4-BE49-F238E27FC236}">
                <a16:creationId xmlns:a16="http://schemas.microsoft.com/office/drawing/2014/main" id="{9687595E-32B8-4199-97A6-9989BA5D9FFB}"/>
              </a:ext>
            </a:extLst>
          </p:cNvPr>
          <p:cNvSpPr>
            <a:spLocks xmlns:a="http://schemas.openxmlformats.org/drawingml/2006/main" noGrp="1"/>
          </p:cNvSpPr>
          <p:nvPr/>
        </p:nvSpPr>
        <p:spPr>
          <a:xfrm xmlns:a="http://schemas.openxmlformats.org/drawingml/2006/main">
            <a:off x="6477000" y="38290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E6E73"/>
                </a:solidFill>
                <a:latin typeface="Helvetica Neue"/>
                <a:ea typeface="Helvetica Neue"/>
                <a:cs typeface="Helvetica Neue"/>
              </a:defRPr>
            </a:pPr>
            <a:r>
              <a:rPr sz="1500" b="0">
                <a:solidFill>
                  <a:srgbClr val="6E6E73"/>
                </a:solidFill>
                <a:latin typeface="Helvetica Neue"/>
                <a:ea typeface="Helvetica Neue"/>
                <a:cs typeface="Helvetica Neue"/>
              </a:rPr>
              <a:t>A complete replay verifies halting, 474 ones, and a 637-cell span.</a:t>
            </a:r>
          </a:p>
        </p:txBody>
      </p:sp>
      <p:sp>
        <p:nvSpPr>
          <p:cNvPr id="12" name="">
            <a:extLst xmlns:a="http://schemas.openxmlformats.org/drawingml/2006/main">
              <a:ext uri="{FF2B5EF4-FFF2-40B4-BE49-F238E27FC236}">
                <a16:creationId xmlns:a16="http://schemas.microsoft.com/office/drawing/2014/main" id="{08967C6B-3586-4A91-9EE0-233BC7165496}"/>
              </a:ext>
            </a:extLst>
          </p:cNvPr>
          <p:cNvSpPr>
            <a:spLocks xmlns:a="http://schemas.openxmlformats.org/drawingml/2006/main" noGrp="1"/>
          </p:cNvSpPr>
          <p:nvPr/>
        </p:nvSpPr>
        <p:spPr>
          <a:xfrm xmlns:a="http://schemas.openxmlformats.org/drawingml/2006/main">
            <a:off x="762000" y="5667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E6E73"/>
                </a:solidFill>
                <a:latin typeface="Helvetica Neue"/>
                <a:ea typeface="Helvetica Neue"/>
                <a:cs typeface="Helvetica Neue"/>
              </a:defRPr>
            </a:pPr>
            <a:r>
              <a:rPr sz="900" b="1">
                <a:solidFill>
                  <a:srgbClr val="6E6E73"/>
                </a:solidFill>
                <a:latin typeface="Helvetica Neue"/>
                <a:ea typeface="Helvetica Neue"/>
                <a:cs typeface="Helvetica Neue"/>
              </a:rPr>
              <a:t>BOUNDARY</a:t>
            </a:r>
          </a:p>
        </p:txBody>
      </p:sp>
      <p:sp>
        <p:nvSpPr>
          <p:cNvPr id="13" name="">
            <a:extLst xmlns:a="http://schemas.openxmlformats.org/drawingml/2006/main">
              <a:ext uri="{FF2B5EF4-FFF2-40B4-BE49-F238E27FC236}">
                <a16:creationId xmlns:a16="http://schemas.microsoft.com/office/drawing/2014/main" id="{A3C6777C-4A66-405B-BBE5-C4DC143F43DA}"/>
              </a:ext>
            </a:extLst>
          </p:cNvPr>
          <p:cNvSpPr>
            <a:spLocks xmlns:a="http://schemas.openxmlformats.org/drawingml/2006/main" noGrp="1"/>
          </p:cNvSpPr>
          <p:nvPr/>
        </p:nvSpPr>
        <p:spPr>
          <a:xfrm xmlns:a="http://schemas.openxmlformats.org/drawingml/2006/main">
            <a:off x="1790700" y="5600700"/>
            <a:ext cx="923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The Grothendieck result does not improve the general constant. Busy Beaver is best found under this challenge budget.</a:t>
            </a:r>
          </a:p>
        </p:txBody>
      </p:sp>
    </p:spTree>
    <p:extLst>
      <p:ext uri="{BB962C8B-B14F-4D97-AF65-F5344CB8AC3E}">
        <p14:creationId xmlns:p14="http://schemas.microsoft.com/office/powerpoint/2010/main" val="1963585601"/>
      </p:ext>
    </p:extLst>
  </p:cSld>
</p:sld>
</file>

<file path=ppt/slides/slide6.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AED2AA-3EA2-4DB7-9824-81E475CDF232}"/>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OPTIMIZATION AND SYSTEMS</a:t>
            </a:r>
          </a:p>
        </p:txBody>
      </p:sp>
      <p:sp>
        <p:nvSpPr>
          <p:cNvPr id="2" name="">
            <a:extLst xmlns:a="http://schemas.openxmlformats.org/drawingml/2006/main">
              <a:ext uri="{FF2B5EF4-FFF2-40B4-BE49-F238E27FC236}">
                <a16:creationId xmlns:a16="http://schemas.microsoft.com/office/drawing/2014/main" id="{41DF3261-109C-42D0-8250-9C9E8443E7CD}"/>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Three results against their strongest fair comparison</a:t>
            </a:r>
          </a:p>
        </p:txBody>
      </p:sp>
      <p:sp>
        <p:nvSpPr>
          <p:cNvPr id="3" name="">
            <a:extLst xmlns:a="http://schemas.openxmlformats.org/drawingml/2006/main">
              <a:ext uri="{FF2B5EF4-FFF2-40B4-BE49-F238E27FC236}">
                <a16:creationId xmlns:a16="http://schemas.microsoft.com/office/drawing/2014/main" id="{C9BB33B3-DCE2-40B8-B2E7-E2667F393B4C}"/>
              </a:ext>
            </a:extLst>
          </p:cNvPr>
          <p:cNvSpPr>
            <a:spLocks xmlns:a="http://schemas.openxmlformats.org/drawingml/2006/main" noGrp="1"/>
          </p:cNvSpPr>
          <p:nvPr/>
        </p:nvSpPr>
        <p:spPr>
          <a:xfrm xmlns:a="http://schemas.openxmlformats.org/drawingml/2006/main">
            <a:off x="762000" y="17145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0071E3"/>
                </a:solidFill>
                <a:latin typeface="Helvetica Neue"/>
                <a:ea typeface="Helvetica Neue"/>
                <a:cs typeface="Helvetica Neue"/>
              </a:defRPr>
            </a:pPr>
            <a:r>
              <a:rPr sz="750" b="1">
                <a:solidFill>
                  <a:srgbClr val="0071E3"/>
                </a:solidFill>
                <a:latin typeface="Helvetica Neue"/>
                <a:ea typeface="Helvetica Neue"/>
                <a:cs typeface="Helvetica Neue"/>
              </a:rPr>
              <a:t>CURRENT PACKING</a:t>
            </a:r>
          </a:p>
        </p:txBody>
      </p:sp>
      <p:sp>
        <p:nvSpPr>
          <p:cNvPr id="4" name="">
            <a:extLst xmlns:a="http://schemas.openxmlformats.org/drawingml/2006/main">
              <a:ext uri="{FF2B5EF4-FFF2-40B4-BE49-F238E27FC236}">
                <a16:creationId xmlns:a16="http://schemas.microsoft.com/office/drawing/2014/main" id="{CC61D057-79CC-4760-9BBB-67EEF8D0816B}"/>
              </a:ext>
            </a:extLst>
          </p:cNvPr>
          <p:cNvSpPr>
            <a:spLocks xmlns:a="http://schemas.openxmlformats.org/drawingml/2006/main" noGrp="1"/>
          </p:cNvSpPr>
          <p:nvPr/>
        </p:nvSpPr>
        <p:spPr>
          <a:xfrm xmlns:a="http://schemas.openxmlformats.org/drawingml/2006/main">
            <a:off x="4524375" y="17145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18A05E"/>
                </a:solidFill>
                <a:latin typeface="Helvetica Neue"/>
                <a:ea typeface="Helvetica Neue"/>
                <a:cs typeface="Helvetica Neue"/>
              </a:defRPr>
            </a:pPr>
            <a:r>
              <a:rPr sz="750" b="1">
                <a:solidFill>
                  <a:srgbClr val="18A05E"/>
                </a:solidFill>
                <a:latin typeface="Helvetica Neue"/>
                <a:ea typeface="Helvetica Neue"/>
                <a:cs typeface="Helvetica Neue"/>
              </a:rPr>
              <a:t>CURRENT CONFIGURATION</a:t>
            </a:r>
          </a:p>
        </p:txBody>
      </p:sp>
      <p:sp>
        <p:nvSpPr>
          <p:cNvPr id="5" name="">
            <a:extLst xmlns:a="http://schemas.openxmlformats.org/drawingml/2006/main">
              <a:ext uri="{FF2B5EF4-FFF2-40B4-BE49-F238E27FC236}">
                <a16:creationId xmlns:a16="http://schemas.microsoft.com/office/drawing/2014/main" id="{D28F7D88-A7AC-4428-93CD-242195ECE518}"/>
              </a:ext>
            </a:extLst>
          </p:cNvPr>
          <p:cNvSpPr>
            <a:spLocks xmlns:a="http://schemas.openxmlformats.org/drawingml/2006/main" noGrp="1"/>
          </p:cNvSpPr>
          <p:nvPr/>
        </p:nvSpPr>
        <p:spPr>
          <a:xfrm xmlns:a="http://schemas.openxmlformats.org/drawingml/2006/main">
            <a:off x="8286750" y="17145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E85D28"/>
                </a:solidFill>
                <a:latin typeface="Helvetica Neue"/>
                <a:ea typeface="Helvetica Neue"/>
                <a:cs typeface="Helvetica Neue"/>
              </a:defRPr>
            </a:pPr>
            <a:r>
              <a:rPr sz="750" b="1">
                <a:solidFill>
                  <a:srgbClr val="E85D28"/>
                </a:solidFill>
                <a:latin typeface="Helvetica Neue"/>
                <a:ea typeface="Helvetica Neue"/>
                <a:cs typeface="Helvetica Neue"/>
              </a:rPr>
              <a:t>CURRENT BENCHMARK</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f8bed95b08746d2"/>
          <a:srcRect xmlns:a="http://schemas.openxmlformats.org/drawingml/2006/main" l="10075" t="0" r="10075" b="0"/>
          <a:stretch xmlns:a="http://schemas.openxmlformats.org/drawingml/2006/main">
            <a:fillRect l="0" t="0" r="0" b="0"/>
          </a:stretch>
        </p:blipFill>
        <p:spPr>
          <a:xfrm xmlns:a="http://schemas.openxmlformats.org/drawingml/2006/main">
            <a:off x="742950" y="1924050"/>
            <a:ext cx="3190875" cy="195262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07d3d54e2d145a6"/>
          <a:stretch xmlns:a="http://schemas.openxmlformats.org/drawingml/2006/main"/>
        </p:blipFill>
        <p:spPr>
          <a:xfrm xmlns:a="http://schemas.openxmlformats.org/drawingml/2006/main">
            <a:off x="4952206" y="1924050"/>
            <a:ext cx="2278063" cy="1952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203EBCC-58D9-411B-ADBB-28873C826AE1}"/>
              </a:ext>
            </a:extLst>
          </p:cNvPr>
          <p:cNvSpPr>
            <a:spLocks xmlns:a="http://schemas.openxmlformats.org/drawingml/2006/main" noGrp="1"/>
          </p:cNvSpPr>
          <p:nvPr/>
        </p:nvSpPr>
        <p:spPr>
          <a:xfrm xmlns:a="http://schemas.openxmlformats.org/drawingml/2006/main">
            <a:off x="8248650" y="228600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350" b="1">
                <a:solidFill>
                  <a:srgbClr val="0071E3"/>
                </a:solidFill>
                <a:latin typeface="Helvetica Neue"/>
                <a:ea typeface="Helvetica Neue"/>
                <a:cs typeface="Helvetica Neue"/>
              </a:defRPr>
            </a:pPr>
            <a:r>
              <a:rPr sz="4350" b="1">
                <a:solidFill>
                  <a:srgbClr val="0071E3"/>
                </a:solidFill>
                <a:latin typeface="Helvetica Neue"/>
                <a:ea typeface="Helvetica Neue"/>
                <a:cs typeface="Helvetica Neue"/>
              </a:rPr>
              <a:t>98×</a:t>
            </a:r>
          </a:p>
        </p:txBody>
      </p:sp>
      <p:sp>
        <p:nvSpPr>
          <p:cNvPr id="9" name="">
            <a:extLst xmlns:a="http://schemas.openxmlformats.org/drawingml/2006/main">
              <a:ext uri="{FF2B5EF4-FFF2-40B4-BE49-F238E27FC236}">
                <a16:creationId xmlns:a16="http://schemas.microsoft.com/office/drawing/2014/main" id="{64009B1C-3BB2-47AC-9C84-3EC6F032EAA2}"/>
              </a:ext>
            </a:extLst>
          </p:cNvPr>
          <p:cNvSpPr>
            <a:spLocks xmlns:a="http://schemas.openxmlformats.org/drawingml/2006/main" noGrp="1"/>
          </p:cNvSpPr>
          <p:nvPr/>
        </p:nvSpPr>
        <p:spPr>
          <a:xfrm xmlns:a="http://schemas.openxmlformats.org/drawingml/2006/main">
            <a:off x="8248650" y="30670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6E6E73"/>
                </a:solidFill>
                <a:latin typeface="Helvetica Neue"/>
                <a:ea typeface="Helvetica Neue"/>
                <a:cs typeface="Helvetica Neue"/>
              </a:defRPr>
            </a:pPr>
            <a:r>
              <a:rPr sz="1275" b="1">
                <a:solidFill>
                  <a:srgbClr val="6E6E73"/>
                </a:solidFill>
                <a:latin typeface="Helvetica Neue"/>
                <a:ea typeface="Helvetica Neue"/>
                <a:cs typeface="Helvetica Neue"/>
              </a:rPr>
              <a:t>median speedup over baseline</a:t>
            </a:r>
          </a:p>
        </p:txBody>
      </p:sp>
      <p:sp>
        <p:nvSpPr>
          <p:cNvPr id="10" name="">
            <a:extLst xmlns:a="http://schemas.openxmlformats.org/drawingml/2006/main">
              <a:ext uri="{FF2B5EF4-FFF2-40B4-BE49-F238E27FC236}">
                <a16:creationId xmlns:a16="http://schemas.microsoft.com/office/drawing/2014/main" id="{21CBAEB1-9048-499A-A4FE-19E1423C4158}"/>
              </a:ext>
            </a:extLst>
          </p:cNvPr>
          <p:cNvSpPr>
            <a:spLocks xmlns:a="http://schemas.openxmlformats.org/drawingml/2006/main" noGrp="1"/>
          </p:cNvSpPr>
          <p:nvPr/>
        </p:nvSpPr>
        <p:spPr>
          <a:xfrm xmlns:a="http://schemas.openxmlformats.org/drawingml/2006/main">
            <a:off x="742950" y="40957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Helvetica Neue"/>
                <a:ea typeface="Helvetica Neue"/>
                <a:cs typeface="Helvetica Neue"/>
              </a:defRPr>
            </a:pPr>
            <a:r>
              <a:rPr sz="1950" b="1">
                <a:solidFill>
                  <a:srgbClr val="1D1D1F"/>
                </a:solidFill>
                <a:latin typeface="Helvetica Neue"/>
                <a:ea typeface="Helvetica Neue"/>
                <a:cs typeface="Helvetica Neue"/>
              </a:rPr>
              <a:t>2.635983084918</a:t>
            </a:r>
          </a:p>
        </p:txBody>
      </p:sp>
      <p:sp>
        <p:nvSpPr>
          <p:cNvPr id="11" name="">
            <a:extLst xmlns:a="http://schemas.openxmlformats.org/drawingml/2006/main">
              <a:ext uri="{FF2B5EF4-FFF2-40B4-BE49-F238E27FC236}">
                <a16:creationId xmlns:a16="http://schemas.microsoft.com/office/drawing/2014/main" id="{7CEF809A-4A8E-4D0D-8C81-6E5A46D04903}"/>
              </a:ext>
            </a:extLst>
          </p:cNvPr>
          <p:cNvSpPr>
            <a:spLocks xmlns:a="http://schemas.openxmlformats.org/drawingml/2006/main" noGrp="1"/>
          </p:cNvSpPr>
          <p:nvPr/>
        </p:nvSpPr>
        <p:spPr>
          <a:xfrm xmlns:a="http://schemas.openxmlformats.org/drawingml/2006/main">
            <a:off x="742950" y="4533900"/>
            <a:ext cx="319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18A05E"/>
                </a:solidFill>
                <a:latin typeface="Helvetica Neue"/>
                <a:ea typeface="Helvetica Neue"/>
                <a:cs typeface="Helvetica Neue"/>
              </a:defRPr>
            </a:pPr>
            <a:r>
              <a:rPr sz="1050" b="1">
                <a:solidFill>
                  <a:srgbClr val="18A05E"/>
                </a:solidFill>
                <a:latin typeface="Helvetica Neue"/>
                <a:ea typeface="Helvetica Neue"/>
                <a:cs typeface="Helvetica Neue"/>
              </a:rPr>
              <a:t>Best known: 2.635983084919</a:t>
            </a:r>
          </a:p>
        </p:txBody>
      </p:sp>
      <p:sp>
        <p:nvSpPr>
          <p:cNvPr id="12" name="">
            <a:extLst xmlns:a="http://schemas.openxmlformats.org/drawingml/2006/main">
              <a:ext uri="{FF2B5EF4-FFF2-40B4-BE49-F238E27FC236}">
                <a16:creationId xmlns:a16="http://schemas.microsoft.com/office/drawing/2014/main" id="{40A9E012-40F1-4BF7-891E-E8F694016CB6}"/>
              </a:ext>
            </a:extLst>
          </p:cNvPr>
          <p:cNvSpPr>
            <a:spLocks xmlns:a="http://schemas.openxmlformats.org/drawingml/2006/main" noGrp="1"/>
          </p:cNvSpPr>
          <p:nvPr/>
        </p:nvSpPr>
        <p:spPr>
          <a:xfrm xmlns:a="http://schemas.openxmlformats.org/drawingml/2006/main">
            <a:off x="742950" y="490537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E6E73"/>
                </a:solidFill>
                <a:latin typeface="Helvetica Neue"/>
                <a:ea typeface="Helvetica Neue"/>
                <a:cs typeface="Helvetica Neue"/>
              </a:defRPr>
            </a:pPr>
            <a:r>
              <a:rPr sz="1125" b="0">
                <a:solidFill>
                  <a:srgbClr val="6E6E73"/>
                </a:solidFill>
                <a:latin typeface="Helvetica Neue"/>
                <a:ea typeface="Helvetica Neue"/>
                <a:cs typeface="Helvetica Neue"/>
              </a:rPr>
              <a:t>A practical tie, 1.4 × 10⁻¹² below the published best.</a:t>
            </a:r>
          </a:p>
        </p:txBody>
      </p:sp>
      <p:sp>
        <p:nvSpPr>
          <p:cNvPr id="13" name="">
            <a:extLst xmlns:a="http://schemas.openxmlformats.org/drawingml/2006/main">
              <a:ext uri="{FF2B5EF4-FFF2-40B4-BE49-F238E27FC236}">
                <a16:creationId xmlns:a16="http://schemas.microsoft.com/office/drawing/2014/main" id="{04DF0448-F979-4D32-AE6C-E19DC013555B}"/>
              </a:ext>
            </a:extLst>
          </p:cNvPr>
          <p:cNvSpPr>
            <a:spLocks xmlns:a="http://schemas.openxmlformats.org/drawingml/2006/main" noGrp="1"/>
          </p:cNvSpPr>
          <p:nvPr/>
        </p:nvSpPr>
        <p:spPr>
          <a:xfrm xmlns:a="http://schemas.openxmlformats.org/drawingml/2006/main">
            <a:off x="4495800" y="40957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Helvetica Neue"/>
                <a:ea typeface="Helvetica Neue"/>
                <a:cs typeface="Helvetica Neue"/>
              </a:defRPr>
            </a:pPr>
            <a:r>
              <a:rPr sz="1950" b="1">
                <a:solidFill>
                  <a:srgbClr val="1D1D1F"/>
                </a:solidFill>
                <a:latin typeface="Helvetica Neue"/>
                <a:ea typeface="Helvetica Neue"/>
                <a:cs typeface="Helvetica Neue"/>
              </a:rPr>
              <a:t>0.03652988988</a:t>
            </a:r>
          </a:p>
        </p:txBody>
      </p:sp>
      <p:sp>
        <p:nvSpPr>
          <p:cNvPr id="14" name="">
            <a:extLst xmlns:a="http://schemas.openxmlformats.org/drawingml/2006/main">
              <a:ext uri="{FF2B5EF4-FFF2-40B4-BE49-F238E27FC236}">
                <a16:creationId xmlns:a16="http://schemas.microsoft.com/office/drawing/2014/main" id="{2756BBFB-C92C-48A6-BB67-D9AC3FFB7CED}"/>
              </a:ext>
            </a:extLst>
          </p:cNvPr>
          <p:cNvSpPr>
            <a:spLocks xmlns:a="http://schemas.openxmlformats.org/drawingml/2006/main" noGrp="1"/>
          </p:cNvSpPr>
          <p:nvPr/>
        </p:nvSpPr>
        <p:spPr>
          <a:xfrm xmlns:a="http://schemas.openxmlformats.org/drawingml/2006/main">
            <a:off x="4495800" y="4533900"/>
            <a:ext cx="319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18A05E"/>
                </a:solidFill>
                <a:latin typeface="Helvetica Neue"/>
                <a:ea typeface="Helvetica Neue"/>
                <a:cs typeface="Helvetica Neue"/>
              </a:defRPr>
            </a:pPr>
            <a:r>
              <a:rPr sz="1050" b="1">
                <a:solidFill>
                  <a:srgbClr val="18A05E"/>
                </a:solidFill>
                <a:latin typeface="Helvetica Neue"/>
                <a:ea typeface="Helvetica Neue"/>
                <a:cs typeface="Helvetica Neue"/>
              </a:rPr>
              <a:t>AlphaEvolve: same configuration</a:t>
            </a:r>
          </a:p>
        </p:txBody>
      </p:sp>
      <p:sp>
        <p:nvSpPr>
          <p:cNvPr id="15" name="">
            <a:extLst xmlns:a="http://schemas.openxmlformats.org/drawingml/2006/main">
              <a:ext uri="{FF2B5EF4-FFF2-40B4-BE49-F238E27FC236}">
                <a16:creationId xmlns:a16="http://schemas.microsoft.com/office/drawing/2014/main" id="{E1948A87-926A-456D-8DF9-E9A39A4EEEB8}"/>
              </a:ext>
            </a:extLst>
          </p:cNvPr>
          <p:cNvSpPr>
            <a:spLocks xmlns:a="http://schemas.openxmlformats.org/drawingml/2006/main" noGrp="1"/>
          </p:cNvSpPr>
          <p:nvPr/>
        </p:nvSpPr>
        <p:spPr>
          <a:xfrm xmlns:a="http://schemas.openxmlformats.org/drawingml/2006/main">
            <a:off x="4495800" y="490537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E6E73"/>
                </a:solidFill>
                <a:latin typeface="Helvetica Neue"/>
                <a:ea typeface="Helvetica Neue"/>
                <a:cs typeface="Helvetica Neue"/>
              </a:defRPr>
            </a:pPr>
            <a:r>
              <a:rPr sz="1125" b="0">
                <a:solidFill>
                  <a:srgbClr val="6E6E73"/>
                </a:solidFill>
                <a:latin typeface="Helvetica Neue"/>
                <a:ea typeface="Helvetica Neue"/>
                <a:cs typeface="Helvetica Neue"/>
              </a:rPr>
              <a:t>High-precision reproduction, not a new configuration.</a:t>
            </a:r>
          </a:p>
        </p:txBody>
      </p:sp>
      <p:sp>
        <p:nvSpPr>
          <p:cNvPr id="16" name="">
            <a:extLst xmlns:a="http://schemas.openxmlformats.org/drawingml/2006/main">
              <a:ext uri="{FF2B5EF4-FFF2-40B4-BE49-F238E27FC236}">
                <a16:creationId xmlns:a16="http://schemas.microsoft.com/office/drawing/2014/main" id="{E1DED6BF-A431-412B-AAD3-CC89E37AF601}"/>
              </a:ext>
            </a:extLst>
          </p:cNvPr>
          <p:cNvSpPr>
            <a:spLocks xmlns:a="http://schemas.openxmlformats.org/drawingml/2006/main" noGrp="1"/>
          </p:cNvSpPr>
          <p:nvPr/>
        </p:nvSpPr>
        <p:spPr>
          <a:xfrm xmlns:a="http://schemas.openxmlformats.org/drawingml/2006/main">
            <a:off x="8248650" y="40957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Helvetica Neue"/>
                <a:ea typeface="Helvetica Neue"/>
                <a:cs typeface="Helvetica Neue"/>
              </a:defRPr>
            </a:pPr>
            <a:r>
              <a:rPr sz="1950" b="1">
                <a:solidFill>
                  <a:srgbClr val="1D1D1F"/>
                </a:solidFill>
                <a:latin typeface="Helvetica Neue"/>
                <a:ea typeface="Helvetica Neue"/>
                <a:cs typeface="Helvetica Neue"/>
              </a:rPr>
              <a:t>≈ 66–71 GFLOP/s</a:t>
            </a:r>
          </a:p>
        </p:txBody>
      </p:sp>
      <p:sp>
        <p:nvSpPr>
          <p:cNvPr id="17" name="">
            <a:extLst xmlns:a="http://schemas.openxmlformats.org/drawingml/2006/main">
              <a:ext uri="{FF2B5EF4-FFF2-40B4-BE49-F238E27FC236}">
                <a16:creationId xmlns:a16="http://schemas.microsoft.com/office/drawing/2014/main" id="{A9DECE2A-AE55-4976-A244-0721FD9348E2}"/>
              </a:ext>
            </a:extLst>
          </p:cNvPr>
          <p:cNvSpPr>
            <a:spLocks xmlns:a="http://schemas.openxmlformats.org/drawingml/2006/main" noGrp="1"/>
          </p:cNvSpPr>
          <p:nvPr/>
        </p:nvSpPr>
        <p:spPr>
          <a:xfrm xmlns:a="http://schemas.openxmlformats.org/drawingml/2006/main">
            <a:off x="8248650" y="4533900"/>
            <a:ext cx="319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18A05E"/>
                </a:solidFill>
                <a:latin typeface="Helvetica Neue"/>
                <a:ea typeface="Helvetica Neue"/>
                <a:cs typeface="Helvetica Neue"/>
              </a:defRPr>
            </a:pPr>
            <a:r>
              <a:rPr sz="1050" b="1">
                <a:solidFill>
                  <a:srgbClr val="18A05E"/>
                </a:solidFill>
                <a:latin typeface="Helvetica Neue"/>
                <a:ea typeface="Helvetica Neue"/>
                <a:cs typeface="Helvetica Neue"/>
              </a:rPr>
              <a:t>Current baseline: 0.720</a:t>
            </a:r>
          </a:p>
        </p:txBody>
      </p:sp>
      <p:sp>
        <p:nvSpPr>
          <p:cNvPr id="18" name="">
            <a:extLst xmlns:a="http://schemas.openxmlformats.org/drawingml/2006/main">
              <a:ext uri="{FF2B5EF4-FFF2-40B4-BE49-F238E27FC236}">
                <a16:creationId xmlns:a16="http://schemas.microsoft.com/office/drawing/2014/main" id="{7958BE1A-F718-4235-9BEA-1F3198ABEC2B}"/>
              </a:ext>
            </a:extLst>
          </p:cNvPr>
          <p:cNvSpPr>
            <a:spLocks xmlns:a="http://schemas.openxmlformats.org/drawingml/2006/main" noGrp="1"/>
          </p:cNvSpPr>
          <p:nvPr/>
        </p:nvSpPr>
        <p:spPr>
          <a:xfrm xmlns:a="http://schemas.openxmlformats.org/drawingml/2006/main">
            <a:off x="8248650" y="49053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E6E73"/>
                </a:solidFill>
                <a:latin typeface="Helvetica Neue"/>
                <a:ea typeface="Helvetica Neue"/>
                <a:cs typeface="Helvetica Neue"/>
              </a:defRPr>
            </a:pPr>
            <a:r>
              <a:rPr sz="1125" b="0">
                <a:solidFill>
                  <a:srgbClr val="6E6E73"/>
                </a:solidFill>
                <a:latin typeface="Helvetica Neue"/>
                <a:ea typeface="Helvetica Neue"/>
                <a:cs typeface="Helvetica Neue"/>
              </a:rPr>
              <a:t>Headline uses the defensible current median; a noisy best run reached 111.30.</a:t>
            </a:r>
          </a:p>
        </p:txBody>
      </p:sp>
      <p:sp>
        <p:nvSpPr>
          <p:cNvPr id="19" name="">
            <a:extLst xmlns:a="http://schemas.openxmlformats.org/drawingml/2006/main">
              <a:ext uri="{FF2B5EF4-FFF2-40B4-BE49-F238E27FC236}">
                <a16:creationId xmlns:a16="http://schemas.microsoft.com/office/drawing/2014/main" id="{30B80BF1-34BF-41ED-A678-C0FC56AEBC01}"/>
              </a:ext>
            </a:extLst>
          </p:cNvPr>
          <p:cNvSpPr>
            <a:spLocks xmlns:a="http://schemas.openxmlformats.org/drawingml/2006/main" noGrp="1"/>
          </p:cNvSpPr>
          <p:nvPr/>
        </p:nvSpPr>
        <p:spPr>
          <a:xfrm xmlns:a="http://schemas.openxmlformats.org/drawingml/2006/main">
            <a:off x="762000" y="5943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E6E73"/>
                </a:solidFill>
                <a:latin typeface="Helvetica Neue"/>
                <a:ea typeface="Helvetica Neue"/>
                <a:cs typeface="Helvetica Neue"/>
              </a:defRPr>
            </a:pPr>
            <a:r>
              <a:rPr sz="1050" b="0">
                <a:solidFill>
                  <a:srgbClr val="6E6E73"/>
                </a:solidFill>
                <a:latin typeface="Helvetica Neue"/>
                <a:ea typeface="Helvetica Neue"/>
                <a:cs typeface="Helvetica Neue"/>
              </a:rPr>
              <a:t>Figures and comparison values come from the current verified openmath results.</a:t>
            </a:r>
          </a:p>
        </p:txBody>
      </p:sp>
    </p:spTree>
    <p:extLst>
      <p:ext uri="{BB962C8B-B14F-4D97-AF65-F5344CB8AC3E}">
        <p14:creationId xmlns:p14="http://schemas.microsoft.com/office/powerpoint/2010/main" val="1291288394"/>
      </p:ext>
    </p:extLst>
  </p:cSld>
</p:sld>
</file>

<file path=ppt/slides/slide7.xml><?xml version="1.0" encoding="utf-8"?>
<p:sld xmlns:p="http://schemas.openxmlformats.org/presentationml/2006/main">
  <p:cSld>
    <p:bg>
      <p:bgPr>
        <a:solidFill xmlns:a="http://schemas.openxmlformats.org/drawingml/2006/main">
          <a:srgbClr val="FBFB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383441-A9DA-4E34-B4ED-7CD9C5855BF6}"/>
              </a:ext>
            </a:extLst>
          </p:cNvPr>
          <p:cNvSpPr>
            <a:spLocks xmlns:a="http://schemas.openxmlformats.org/drawingml/2006/main" noGrp="1"/>
          </p:cNvSpPr>
          <p:nvPr/>
        </p:nvSpPr>
        <p:spPr>
          <a:xfrm xmlns:a="http://schemas.openxmlformats.org/drawingml/2006/main">
            <a:off x="723900" y="495300"/>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MODELING AND LIVE DEMO</a:t>
            </a:r>
          </a:p>
        </p:txBody>
      </p:sp>
      <p:sp>
        <p:nvSpPr>
          <p:cNvPr id="2" name="">
            <a:extLst xmlns:a="http://schemas.openxmlformats.org/drawingml/2006/main">
              <a:ext uri="{FF2B5EF4-FFF2-40B4-BE49-F238E27FC236}">
                <a16:creationId xmlns:a16="http://schemas.microsoft.com/office/drawing/2014/main" id="{DC7D43E7-62E5-46AB-ACAA-47213EC3CC68}"/>
              </a:ext>
            </a:extLst>
          </p:cNvPr>
          <p:cNvSpPr>
            <a:spLocks xmlns:a="http://schemas.openxmlformats.org/drawingml/2006/main" noGrp="1"/>
          </p:cNvSpPr>
          <p:nvPr/>
        </p:nvSpPr>
        <p:spPr>
          <a:xfrm xmlns:a="http://schemas.openxmlformats.org/drawingml/2006/main">
            <a:off x="723900" y="952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Helvetica Neue"/>
                <a:ea typeface="Helvetica Neue"/>
                <a:cs typeface="Helvetica Neue"/>
              </a:defRPr>
            </a:pPr>
            <a:r>
              <a:rPr sz="2700" b="1">
                <a:solidFill>
                  <a:srgbClr val="1D1D1F"/>
                </a:solidFill>
                <a:latin typeface="Helvetica Neue"/>
                <a:ea typeface="Helvetica Neue"/>
                <a:cs typeface="Helvetica Neue"/>
              </a:rPr>
              <a:t>Finish with measured gains, then prove the build</a:t>
            </a:r>
          </a:p>
        </p:txBody>
      </p:sp>
      <p:sp>
        <p:nvSpPr>
          <p:cNvPr id="3" name="">
            <a:extLst xmlns:a="http://schemas.openxmlformats.org/drawingml/2006/main">
              <a:ext uri="{FF2B5EF4-FFF2-40B4-BE49-F238E27FC236}">
                <a16:creationId xmlns:a16="http://schemas.microsoft.com/office/drawing/2014/main" id="{9C20389D-DD95-4D07-A3E4-D52CE266ED25}"/>
              </a:ext>
            </a:extLst>
          </p:cNvPr>
          <p:cNvSpPr>
            <a:spLocks xmlns:a="http://schemas.openxmlformats.org/drawingml/2006/main" noGrp="1"/>
          </p:cNvSpPr>
          <p:nvPr/>
        </p:nvSpPr>
        <p:spPr>
          <a:xfrm xmlns:a="http://schemas.openxmlformats.org/drawingml/2006/main">
            <a:off x="762000" y="19526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071E3"/>
                </a:solidFill>
                <a:latin typeface="Helvetica Neue"/>
                <a:ea typeface="Helvetica Neue"/>
                <a:cs typeface="Helvetica Neue"/>
              </a:defRPr>
            </a:pPr>
            <a:r>
              <a:rPr sz="975" b="1">
                <a:solidFill>
                  <a:srgbClr val="0071E3"/>
                </a:solidFill>
                <a:latin typeface="Helvetica Neue"/>
                <a:ea typeface="Helvetica Neue"/>
                <a:cs typeface="Helvetica Neue"/>
              </a:rPr>
              <a:t>SHAKESPEARE</a:t>
            </a:r>
          </a:p>
        </p:txBody>
      </p:sp>
      <p:sp>
        <p:nvSpPr>
          <p:cNvPr id="4" name="">
            <a:extLst xmlns:a="http://schemas.openxmlformats.org/drawingml/2006/main">
              <a:ext uri="{FF2B5EF4-FFF2-40B4-BE49-F238E27FC236}">
                <a16:creationId xmlns:a16="http://schemas.microsoft.com/office/drawing/2014/main" id="{D3A4B957-97A3-4C40-9D49-619CA88C9884}"/>
              </a:ext>
            </a:extLst>
          </p:cNvPr>
          <p:cNvSpPr>
            <a:spLocks xmlns:a="http://schemas.openxmlformats.org/drawingml/2006/main" noGrp="1"/>
          </p:cNvSpPr>
          <p:nvPr/>
        </p:nvSpPr>
        <p:spPr>
          <a:xfrm xmlns:a="http://schemas.openxmlformats.org/drawingml/2006/main">
            <a:off x="742950" y="2305050"/>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2.0394 bpc</a:t>
            </a:r>
          </a:p>
        </p:txBody>
      </p:sp>
      <p:sp>
        <p:nvSpPr>
          <p:cNvPr id="5" name="">
            <a:extLst xmlns:a="http://schemas.openxmlformats.org/drawingml/2006/main">
              <a:ext uri="{FF2B5EF4-FFF2-40B4-BE49-F238E27FC236}">
                <a16:creationId xmlns:a16="http://schemas.microsoft.com/office/drawing/2014/main" id="{F5F5B40D-9460-4559-9D0C-1361A2CA7F0F}"/>
              </a:ext>
            </a:extLst>
          </p:cNvPr>
          <p:cNvSpPr>
            <a:spLocks xmlns:a="http://schemas.openxmlformats.org/drawingml/2006/main" noGrp="1"/>
          </p:cNvSpPr>
          <p:nvPr/>
        </p:nvSpPr>
        <p:spPr>
          <a:xfrm xmlns:a="http://schemas.openxmlformats.org/drawingml/2006/main">
            <a:off x="762000" y="30003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8A05E"/>
                </a:solidFill>
                <a:latin typeface="Helvetica Neue"/>
                <a:ea typeface="Helvetica Neue"/>
                <a:cs typeface="Helvetica Neue"/>
              </a:defRPr>
            </a:pPr>
            <a:r>
              <a:rPr sz="1350" b="1">
                <a:solidFill>
                  <a:srgbClr val="18A05E"/>
                </a:solidFill>
                <a:latin typeface="Helvetica Neue"/>
                <a:ea typeface="Helvetica Neue"/>
                <a:cs typeface="Helvetica Neue"/>
              </a:rPr>
              <a:t>Challenge baseline: 4.7616  ·  57% lower</a:t>
            </a:r>
          </a:p>
        </p:txBody>
      </p:sp>
      <p:sp>
        <p:nvSpPr>
          <p:cNvPr id="6" name="">
            <a:extLst xmlns:a="http://schemas.openxmlformats.org/drawingml/2006/main">
              <a:ext uri="{FF2B5EF4-FFF2-40B4-BE49-F238E27FC236}">
                <a16:creationId xmlns:a16="http://schemas.microsoft.com/office/drawing/2014/main" id="{EF086476-CCD4-4F16-A89B-2FAD501A630D}"/>
              </a:ext>
            </a:extLst>
          </p:cNvPr>
          <p:cNvSpPr>
            <a:spLocks xmlns:a="http://schemas.openxmlformats.org/drawingml/2006/main" noGrp="1"/>
          </p:cNvSpPr>
          <p:nvPr/>
        </p:nvSpPr>
        <p:spPr>
          <a:xfrm xmlns:a="http://schemas.openxmlformats.org/drawingml/2006/main">
            <a:off x="762000" y="3495675"/>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Synthetic split; the real hidden score is unavailable.</a:t>
            </a:r>
          </a:p>
        </p:txBody>
      </p:sp>
      <p:sp>
        <p:nvSpPr>
          <p:cNvPr id="7" name="">
            <a:extLst xmlns:a="http://schemas.openxmlformats.org/drawingml/2006/main">
              <a:ext uri="{FF2B5EF4-FFF2-40B4-BE49-F238E27FC236}">
                <a16:creationId xmlns:a16="http://schemas.microsoft.com/office/drawing/2014/main" id="{9610C801-76D4-4471-88FD-94AF4503C0CA}"/>
              </a:ext>
            </a:extLst>
          </p:cNvPr>
          <p:cNvSpPr>
            <a:spLocks xmlns:a="http://schemas.openxmlformats.org/drawingml/2006/main" noGrp="1"/>
          </p:cNvSpPr>
          <p:nvPr/>
        </p:nvSpPr>
        <p:spPr>
          <a:xfrm xmlns:a="http://schemas.openxmlformats.org/drawingml/2006/main">
            <a:off x="6477000" y="19526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E85D28"/>
                </a:solidFill>
                <a:latin typeface="Helvetica Neue"/>
                <a:ea typeface="Helvetica Neue"/>
                <a:cs typeface="Helvetica Neue"/>
              </a:defRPr>
            </a:pPr>
            <a:r>
              <a:rPr sz="975" b="1">
                <a:solidFill>
                  <a:srgbClr val="E85D28"/>
                </a:solidFill>
                <a:latin typeface="Helvetica Neue"/>
                <a:ea typeface="Helvetica Neue"/>
                <a:cs typeface="Helvetica Neue"/>
              </a:rPr>
              <a:t>PARABOLA POINT CLOUD</a:t>
            </a:r>
          </a:p>
        </p:txBody>
      </p:sp>
      <p:sp>
        <p:nvSpPr>
          <p:cNvPr id="8" name="">
            <a:extLst xmlns:a="http://schemas.openxmlformats.org/drawingml/2006/main">
              <a:ext uri="{FF2B5EF4-FFF2-40B4-BE49-F238E27FC236}">
                <a16:creationId xmlns:a16="http://schemas.microsoft.com/office/drawing/2014/main" id="{B2E6FCF1-13C7-4E5E-93DD-C776DC875456}"/>
              </a:ext>
            </a:extLst>
          </p:cNvPr>
          <p:cNvSpPr>
            <a:spLocks xmlns:a="http://schemas.openxmlformats.org/drawingml/2006/main" noGrp="1"/>
          </p:cNvSpPr>
          <p:nvPr/>
        </p:nvSpPr>
        <p:spPr>
          <a:xfrm xmlns:a="http://schemas.openxmlformats.org/drawingml/2006/main">
            <a:off x="6457950" y="23050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Helvetica Neue"/>
                <a:ea typeface="Helvetica Neue"/>
                <a:cs typeface="Helvetica Neue"/>
              </a:defRPr>
            </a:pPr>
            <a:r>
              <a:rPr sz="3150" b="1">
                <a:solidFill>
                  <a:srgbClr val="1D1D1F"/>
                </a:solidFill>
                <a:latin typeface="Helvetica Neue"/>
                <a:ea typeface="Helvetica Neue"/>
                <a:cs typeface="Helvetica Neue"/>
              </a:rPr>
              <a:t>0.0256</a:t>
            </a:r>
          </a:p>
        </p:txBody>
      </p:sp>
      <p:sp>
        <p:nvSpPr>
          <p:cNvPr id="9" name="">
            <a:extLst xmlns:a="http://schemas.openxmlformats.org/drawingml/2006/main">
              <a:ext uri="{FF2B5EF4-FFF2-40B4-BE49-F238E27FC236}">
                <a16:creationId xmlns:a16="http://schemas.microsoft.com/office/drawing/2014/main" id="{E658E61D-2DFE-4DCE-BEF7-FE00AB7D427B}"/>
              </a:ext>
            </a:extLst>
          </p:cNvPr>
          <p:cNvSpPr>
            <a:spLocks xmlns:a="http://schemas.openxmlformats.org/drawingml/2006/main" noGrp="1"/>
          </p:cNvSpPr>
          <p:nvPr/>
        </p:nvSpPr>
        <p:spPr>
          <a:xfrm xmlns:a="http://schemas.openxmlformats.org/drawingml/2006/main">
            <a:off x="6477000" y="30003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8A05E"/>
                </a:solidFill>
                <a:latin typeface="Helvetica Neue"/>
                <a:ea typeface="Helvetica Neue"/>
                <a:cs typeface="Helvetica Neue"/>
              </a:defRPr>
            </a:pPr>
            <a:r>
              <a:rPr sz="1350" b="1">
                <a:solidFill>
                  <a:srgbClr val="18A05E"/>
                </a:solidFill>
                <a:latin typeface="Helvetica Neue"/>
                <a:ea typeface="Helvetica Neue"/>
                <a:cs typeface="Helvetica Neue"/>
              </a:rPr>
              <a:t>Challenge baseline: ≈ 0.058  ·  2.27× better</a:t>
            </a:r>
          </a:p>
        </p:txBody>
      </p:sp>
      <p:sp>
        <p:nvSpPr>
          <p:cNvPr id="10" name="">
            <a:extLst xmlns:a="http://schemas.openxmlformats.org/drawingml/2006/main">
              <a:ext uri="{FF2B5EF4-FFF2-40B4-BE49-F238E27FC236}">
                <a16:creationId xmlns:a16="http://schemas.microsoft.com/office/drawing/2014/main" id="{34A3EC48-48A4-45CA-9F9E-A5561713241C}"/>
              </a:ext>
            </a:extLst>
          </p:cNvPr>
          <p:cNvSpPr>
            <a:spLocks xmlns:a="http://schemas.openxmlformats.org/drawingml/2006/main" noGrp="1"/>
          </p:cNvSpPr>
          <p:nvPr/>
        </p:nvSpPr>
        <p:spPr>
          <a:xfrm xmlns:a="http://schemas.openxmlformats.org/drawingml/2006/main">
            <a:off x="6477000" y="34956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Direct estimator, not a diffusion model.</a:t>
            </a:r>
          </a:p>
        </p:txBody>
      </p:sp>
      <p:sp>
        <p:nvSpPr>
          <p:cNvPr id="11" name="">
            <a:extLst xmlns:a="http://schemas.openxmlformats.org/drawingml/2006/main">
              <a:ext uri="{FF2B5EF4-FFF2-40B4-BE49-F238E27FC236}">
                <a16:creationId xmlns:a16="http://schemas.microsoft.com/office/drawing/2014/main" id="{958164C7-62B2-40C1-9E15-CBD5EAB1F547}"/>
              </a:ext>
            </a:extLst>
          </p:cNvPr>
          <p:cNvSpPr>
            <a:spLocks xmlns:a="http://schemas.openxmlformats.org/drawingml/2006/main" noGrp="1"/>
          </p:cNvSpPr>
          <p:nvPr/>
        </p:nvSpPr>
        <p:spPr>
          <a:xfrm xmlns:a="http://schemas.openxmlformats.org/drawingml/2006/main">
            <a:off x="1714500" y="48768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lake clean</a:t>
            </a:r>
          </a:p>
        </p:txBody>
      </p:sp>
      <p:sp>
        <p:nvSpPr>
          <p:cNvPr id="12" name="">
            <a:extLst xmlns:a="http://schemas.openxmlformats.org/drawingml/2006/main">
              <a:ext uri="{FF2B5EF4-FFF2-40B4-BE49-F238E27FC236}">
                <a16:creationId xmlns:a16="http://schemas.microsoft.com/office/drawing/2014/main" id="{852EC99C-7517-4DFF-B0E7-0F0120674D2D}"/>
              </a:ext>
            </a:extLst>
          </p:cNvPr>
          <p:cNvSpPr>
            <a:spLocks xmlns:a="http://schemas.openxmlformats.org/drawingml/2006/main" noGrp="1"/>
          </p:cNvSpPr>
          <p:nvPr/>
        </p:nvSpPr>
        <p:spPr>
          <a:xfrm xmlns:a="http://schemas.openxmlformats.org/drawingml/2006/main">
            <a:off x="7620000" y="48768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lake build</a:t>
            </a:r>
          </a:p>
        </p:txBody>
      </p:sp>
      <p:sp>
        <p:nvSpPr>
          <p:cNvPr id="13" name="">
            <a:extLst xmlns:a="http://schemas.openxmlformats.org/drawingml/2006/main">
              <a:ext uri="{FF2B5EF4-FFF2-40B4-BE49-F238E27FC236}">
                <a16:creationId xmlns:a16="http://schemas.microsoft.com/office/drawing/2014/main" id="{DCAFBCC2-985F-46B6-AC79-F15872D778D7}"/>
              </a:ext>
            </a:extLst>
          </p:cNvPr>
          <p:cNvSpPr>
            <a:spLocks xmlns:a="http://schemas.openxmlformats.org/drawingml/2006/main" noGrp="1"/>
          </p:cNvSpPr>
          <p:nvPr/>
        </p:nvSpPr>
        <p:spPr>
          <a:xfrm xmlns:a="http://schemas.openxmlformats.org/drawingml/2006/main">
            <a:off x="1714500" y="53721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Clean state</a:t>
            </a:r>
          </a:p>
        </p:txBody>
      </p:sp>
      <p:sp>
        <p:nvSpPr>
          <p:cNvPr id="14" name="">
            <a:extLst xmlns:a="http://schemas.openxmlformats.org/drawingml/2006/main">
              <a:ext uri="{FF2B5EF4-FFF2-40B4-BE49-F238E27FC236}">
                <a16:creationId xmlns:a16="http://schemas.microsoft.com/office/drawing/2014/main" id="{23A1AA7B-C83B-427B-A589-AE8C72B13E46}"/>
              </a:ext>
            </a:extLst>
          </p:cNvPr>
          <p:cNvSpPr>
            <a:spLocks xmlns:a="http://schemas.openxmlformats.org/drawingml/2006/main" noGrp="1"/>
          </p:cNvSpPr>
          <p:nvPr/>
        </p:nvSpPr>
        <p:spPr>
          <a:xfrm xmlns:a="http://schemas.openxmlformats.org/drawingml/2006/main">
            <a:off x="7239000" y="53721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Kernel checks and axiom audit</a:t>
            </a:r>
          </a:p>
        </p:txBody>
      </p:sp>
      <p:sp>
        <p:nvSpPr>
          <p:cNvPr id="15" name="">
            <a:extLst xmlns:a="http://schemas.openxmlformats.org/drawingml/2006/main">
              <a:ext uri="{FF2B5EF4-FFF2-40B4-BE49-F238E27FC236}">
                <a16:creationId xmlns:a16="http://schemas.microsoft.com/office/drawing/2014/main" id="{AF4405D5-5555-44A4-B568-F0A0E4A52832}"/>
              </a:ext>
            </a:extLst>
          </p:cNvPr>
          <p:cNvSpPr>
            <a:spLocks xmlns:a="http://schemas.openxmlformats.org/drawingml/2006/main" noGrp="1"/>
          </p:cNvSpPr>
          <p:nvPr/>
        </p:nvSpPr>
        <p:spPr>
          <a:xfrm xmlns:a="http://schemas.openxmlformats.org/drawingml/2006/main">
            <a:off x="762000" y="61150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0071E3"/>
                </a:solidFill>
                <a:latin typeface="Helvetica Neue"/>
                <a:ea typeface="Helvetica Neue"/>
                <a:cs typeface="Helvetica Neue"/>
              </a:defRPr>
            </a:pPr>
            <a:r>
              <a:rPr sz="1275" b="0">
                <a:solidFill>
                  <a:srgbClr val="0071E3"/>
                </a:solidFill>
                <a:latin typeface="Helvetica Neue"/>
                <a:ea typeface="Helvetica Neue"/>
                <a:cs typeface="Helvetica Neue"/>
              </a:rPr>
              <a:t>github.com/yhinai/openmath</a:t>
            </a:r>
          </a:p>
        </p:txBody>
      </p:sp>
    </p:spTree>
    <p:extLst>
      <p:ext uri="{BB962C8B-B14F-4D97-AF65-F5344CB8AC3E}">
        <p14:creationId xmlns:p14="http://schemas.microsoft.com/office/powerpoint/2010/main" val="880529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2026-09-21T02:10:49.8810000Z</dcterms:created>
  <dcterms:modified xsi:type="dcterms:W3CDTF">2026-09-21T02:10:49.8820000Z</dcterms:modified>
</coreProperties>
</file>